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mbria Bold" charset="1" panose="02040803050406030204"/>
      <p:regular r:id="rId17"/>
    </p:embeddedFont>
    <p:embeddedFont>
      <p:font typeface="Calibri (MS) Bold" charset="1" panose="020F0702030404030204"/>
      <p:regular r:id="rId18"/>
    </p:embeddedFont>
    <p:embeddedFont>
      <p:font typeface="Calibri (MS)" charset="1" panose="020F050202020403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2B35"/>
        </a:solidFill>
      </p:bgPr>
    </p:bg>
    <p:spTree>
      <p:nvGrpSpPr>
        <p:cNvPr id="1" name=""/>
        <p:cNvGrpSpPr/>
        <p:nvPr/>
      </p:nvGrpSpPr>
      <p:grpSpPr>
        <a:xfrm>
          <a:off x="0" y="0"/>
          <a:ext cx="0" cy="0"/>
          <a:chOff x="0" y="0"/>
          <a:chExt cx="0" cy="0"/>
        </a:xfrm>
      </p:grpSpPr>
      <p:grpSp>
        <p:nvGrpSpPr>
          <p:cNvPr name="Group 2" id="2"/>
          <p:cNvGrpSpPr/>
          <p:nvPr/>
        </p:nvGrpSpPr>
        <p:grpSpPr>
          <a:xfrm rot="5400000">
            <a:off x="13250475" y="-1845697"/>
            <a:ext cx="5567067" cy="4824412"/>
            <a:chOff x="0" y="0"/>
            <a:chExt cx="7422756" cy="6432550"/>
          </a:xfrm>
        </p:grpSpPr>
        <p:sp>
          <p:nvSpPr>
            <p:cNvPr name="Freeform 3" id="3"/>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blipFill>
              <a:blip r:embed="rId3">
                <a:alphaModFix amt="0"/>
              </a:blip>
              <a:stretch>
                <a:fillRect l="-61187" t="0" r="-61187" b="0"/>
              </a:stretch>
            </a:blipFill>
            <a:ln w="23812" cap="sq">
              <a:solidFill>
                <a:srgbClr val="4FA278"/>
              </a:solidFill>
              <a:prstDash val="solid"/>
              <a:miter/>
            </a:ln>
          </p:spPr>
        </p:sp>
      </p:grpSp>
      <p:grpSp>
        <p:nvGrpSpPr>
          <p:cNvPr name="Group 4" id="4"/>
          <p:cNvGrpSpPr/>
          <p:nvPr/>
        </p:nvGrpSpPr>
        <p:grpSpPr>
          <a:xfrm rot="5400000">
            <a:off x="15774219" y="2525554"/>
            <a:ext cx="5567067" cy="4824412"/>
            <a:chOff x="0" y="0"/>
            <a:chExt cx="7422756" cy="6432550"/>
          </a:xfrm>
        </p:grpSpPr>
        <p:sp>
          <p:nvSpPr>
            <p:cNvPr name="Freeform 5" id="5"/>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solidFill>
              <a:srgbClr val="026855">
                <a:alpha val="5882"/>
              </a:srgbClr>
            </a:solidFill>
            <a:ln w="23812" cap="sq">
              <a:solidFill>
                <a:srgbClr val="4FA278"/>
              </a:solidFill>
              <a:prstDash val="solid"/>
              <a:miter/>
            </a:ln>
          </p:spPr>
        </p:sp>
      </p:grpSp>
      <p:grpSp>
        <p:nvGrpSpPr>
          <p:cNvPr name="Group 6" id="6"/>
          <p:cNvGrpSpPr/>
          <p:nvPr/>
        </p:nvGrpSpPr>
        <p:grpSpPr>
          <a:xfrm rot="5400000">
            <a:off x="13250475" y="6896805"/>
            <a:ext cx="5567067" cy="4824412"/>
            <a:chOff x="0" y="0"/>
            <a:chExt cx="7422756" cy="6432550"/>
          </a:xfrm>
        </p:grpSpPr>
        <p:sp>
          <p:nvSpPr>
            <p:cNvPr name="Freeform 7" id="7"/>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blipFill>
              <a:blip r:embed="rId3">
                <a:alphaModFix amt="0"/>
              </a:blip>
              <a:stretch>
                <a:fillRect l="-61187" t="0" r="-61187" b="0"/>
              </a:stretch>
            </a:blipFill>
            <a:ln w="23812" cap="sq">
              <a:solidFill>
                <a:srgbClr val="4FA278"/>
              </a:solidFill>
              <a:prstDash val="solid"/>
              <a:miter/>
            </a:ln>
          </p:spPr>
        </p:sp>
      </p:grpSp>
      <p:grpSp>
        <p:nvGrpSpPr>
          <p:cNvPr name="Group 8" id="8"/>
          <p:cNvGrpSpPr/>
          <p:nvPr/>
        </p:nvGrpSpPr>
        <p:grpSpPr>
          <a:xfrm rot="5400000">
            <a:off x="9920040" y="4766310"/>
            <a:ext cx="871080" cy="754380"/>
            <a:chOff x="0" y="0"/>
            <a:chExt cx="1161440" cy="1005840"/>
          </a:xfrm>
        </p:grpSpPr>
        <p:sp>
          <p:nvSpPr>
            <p:cNvPr name="Freeform 9" id="9"/>
            <p:cNvSpPr/>
            <p:nvPr/>
          </p:nvSpPr>
          <p:spPr>
            <a:xfrm flipH="false" flipV="false" rot="0">
              <a:off x="0" y="0"/>
              <a:ext cx="1161415" cy="1005840"/>
            </a:xfrm>
            <a:custGeom>
              <a:avLst/>
              <a:gdLst/>
              <a:ahLst/>
              <a:cxnLst/>
              <a:rect r="r" b="b" t="t" l="l"/>
              <a:pathLst>
                <a:path h="1005840" w="1161415">
                  <a:moveTo>
                    <a:pt x="0" y="502920"/>
                  </a:moveTo>
                  <a:lnTo>
                    <a:pt x="251460" y="0"/>
                  </a:lnTo>
                  <a:lnTo>
                    <a:pt x="909955" y="0"/>
                  </a:lnTo>
                  <a:lnTo>
                    <a:pt x="1161415" y="502920"/>
                  </a:lnTo>
                  <a:lnTo>
                    <a:pt x="909955" y="1005840"/>
                  </a:lnTo>
                  <a:lnTo>
                    <a:pt x="251460" y="1005840"/>
                  </a:lnTo>
                  <a:close/>
                </a:path>
              </a:pathLst>
            </a:custGeom>
            <a:solidFill>
              <a:srgbClr val="7AC143"/>
            </a:solidFill>
          </p:spPr>
        </p:sp>
      </p:grpSp>
      <p:grpSp>
        <p:nvGrpSpPr>
          <p:cNvPr name="Group 10" id="10"/>
          <p:cNvGrpSpPr/>
          <p:nvPr/>
        </p:nvGrpSpPr>
        <p:grpSpPr>
          <a:xfrm rot="5400000">
            <a:off x="16274377" y="2592324"/>
            <a:ext cx="506816" cy="438912"/>
            <a:chOff x="0" y="0"/>
            <a:chExt cx="675754" cy="585216"/>
          </a:xfrm>
        </p:grpSpPr>
        <p:sp>
          <p:nvSpPr>
            <p:cNvPr name="Freeform 11" id="11"/>
            <p:cNvSpPr/>
            <p:nvPr/>
          </p:nvSpPr>
          <p:spPr>
            <a:xfrm flipH="false" flipV="false" rot="0">
              <a:off x="0" y="0"/>
              <a:ext cx="675767" cy="585216"/>
            </a:xfrm>
            <a:custGeom>
              <a:avLst/>
              <a:gdLst/>
              <a:ahLst/>
              <a:cxnLst/>
              <a:rect r="r" b="b" t="t" l="l"/>
              <a:pathLst>
                <a:path h="585216" w="675767">
                  <a:moveTo>
                    <a:pt x="0" y="292608"/>
                  </a:moveTo>
                  <a:lnTo>
                    <a:pt x="146304" y="0"/>
                  </a:lnTo>
                  <a:lnTo>
                    <a:pt x="529463" y="0"/>
                  </a:lnTo>
                  <a:lnTo>
                    <a:pt x="675767" y="292608"/>
                  </a:lnTo>
                  <a:lnTo>
                    <a:pt x="529463" y="585216"/>
                  </a:lnTo>
                  <a:lnTo>
                    <a:pt x="146304" y="585216"/>
                  </a:lnTo>
                  <a:close/>
                </a:path>
              </a:pathLst>
            </a:custGeom>
            <a:solidFill>
              <a:srgbClr val="7AC143">
                <a:alpha val="48627"/>
              </a:srgbClr>
            </a:solidFill>
          </p:spPr>
        </p:sp>
      </p:grpSp>
      <p:grpSp>
        <p:nvGrpSpPr>
          <p:cNvPr name="Group 12" id="12"/>
          <p:cNvGrpSpPr/>
          <p:nvPr/>
        </p:nvGrpSpPr>
        <p:grpSpPr>
          <a:xfrm rot="5400000">
            <a:off x="10303088" y="2160270"/>
            <a:ext cx="6414335" cy="5554980"/>
            <a:chOff x="0" y="0"/>
            <a:chExt cx="8552447" cy="7406640"/>
          </a:xfrm>
        </p:grpSpPr>
        <p:sp>
          <p:nvSpPr>
            <p:cNvPr name="Freeform 13" id="13"/>
            <p:cNvSpPr/>
            <p:nvPr/>
          </p:nvSpPr>
          <p:spPr>
            <a:xfrm flipH="false" flipV="false" rot="0">
              <a:off x="0" y="0"/>
              <a:ext cx="8552434" cy="7406640"/>
            </a:xfrm>
            <a:custGeom>
              <a:avLst/>
              <a:gdLst/>
              <a:ahLst/>
              <a:cxnLst/>
              <a:rect r="r" b="b" t="t" l="l"/>
              <a:pathLst>
                <a:path h="7406640" w="8552434">
                  <a:moveTo>
                    <a:pt x="0" y="3703320"/>
                  </a:moveTo>
                  <a:lnTo>
                    <a:pt x="1851660" y="0"/>
                  </a:lnTo>
                  <a:lnTo>
                    <a:pt x="6700774" y="0"/>
                  </a:lnTo>
                  <a:lnTo>
                    <a:pt x="8552434" y="3703320"/>
                  </a:lnTo>
                  <a:lnTo>
                    <a:pt x="6700774" y="7406640"/>
                  </a:lnTo>
                  <a:lnTo>
                    <a:pt x="1851660" y="7406640"/>
                  </a:lnTo>
                  <a:close/>
                </a:path>
              </a:pathLst>
            </a:custGeom>
            <a:solidFill>
              <a:srgbClr val="026855">
                <a:alpha val="20000"/>
              </a:srgbClr>
            </a:solidFill>
          </p:spPr>
        </p:sp>
      </p:grpSp>
      <p:grpSp>
        <p:nvGrpSpPr>
          <p:cNvPr name="Group 14" id="14"/>
          <p:cNvGrpSpPr/>
          <p:nvPr/>
        </p:nvGrpSpPr>
        <p:grpSpPr>
          <a:xfrm rot="5400000">
            <a:off x="10119255" y="7186612"/>
            <a:ext cx="1295600" cy="1125855"/>
            <a:chOff x="0" y="0"/>
            <a:chExt cx="1727467" cy="1501140"/>
          </a:xfrm>
        </p:grpSpPr>
        <p:sp>
          <p:nvSpPr>
            <p:cNvPr name="Freeform 15" id="15"/>
            <p:cNvSpPr/>
            <p:nvPr/>
          </p:nvSpPr>
          <p:spPr>
            <a:xfrm flipH="false" flipV="false" rot="0">
              <a:off x="0" y="0"/>
              <a:ext cx="1727454" cy="1501140"/>
            </a:xfrm>
            <a:custGeom>
              <a:avLst/>
              <a:gdLst/>
              <a:ahLst/>
              <a:cxnLst/>
              <a:rect r="r" b="b" t="t" l="l"/>
              <a:pathLst>
                <a:path h="1501140" w="1727454">
                  <a:moveTo>
                    <a:pt x="0" y="750570"/>
                  </a:moveTo>
                  <a:lnTo>
                    <a:pt x="375285" y="0"/>
                  </a:lnTo>
                  <a:lnTo>
                    <a:pt x="1352169" y="0"/>
                  </a:lnTo>
                  <a:lnTo>
                    <a:pt x="1727454" y="750570"/>
                  </a:lnTo>
                  <a:lnTo>
                    <a:pt x="1352169" y="1501140"/>
                  </a:lnTo>
                  <a:lnTo>
                    <a:pt x="375285" y="1501140"/>
                  </a:lnTo>
                  <a:close/>
                </a:path>
              </a:pathLst>
            </a:custGeom>
            <a:blipFill>
              <a:blip r:embed="rId3">
                <a:alphaModFix amt="0"/>
              </a:blip>
              <a:stretch>
                <a:fillRect l="-61494" t="0" r="-61494" b="0"/>
              </a:stretch>
            </a:blipFill>
            <a:ln w="28575" cap="sq">
              <a:solidFill>
                <a:srgbClr val="7AC143"/>
              </a:solidFill>
              <a:prstDash val="solid"/>
              <a:miter/>
            </a:ln>
          </p:spPr>
        </p:sp>
      </p:grpSp>
      <p:grpSp>
        <p:nvGrpSpPr>
          <p:cNvPr name="Group 16" id="16"/>
          <p:cNvGrpSpPr/>
          <p:nvPr/>
        </p:nvGrpSpPr>
        <p:grpSpPr>
          <a:xfrm rot="5400000">
            <a:off x="10710062" y="2508885"/>
            <a:ext cx="5600405" cy="4857750"/>
            <a:chOff x="0" y="0"/>
            <a:chExt cx="7467206" cy="6477000"/>
          </a:xfrm>
        </p:grpSpPr>
        <p:sp>
          <p:nvSpPr>
            <p:cNvPr name="Freeform 17" id="17"/>
            <p:cNvSpPr/>
            <p:nvPr/>
          </p:nvSpPr>
          <p:spPr>
            <a:xfrm flipH="false" flipV="false" rot="0">
              <a:off x="0" y="0"/>
              <a:ext cx="7467219" cy="6477000"/>
            </a:xfrm>
            <a:custGeom>
              <a:avLst/>
              <a:gdLst/>
              <a:ahLst/>
              <a:cxnLst/>
              <a:rect r="r" b="b" t="t" l="l"/>
              <a:pathLst>
                <a:path h="6477000" w="7467219">
                  <a:moveTo>
                    <a:pt x="0" y="3238500"/>
                  </a:moveTo>
                  <a:lnTo>
                    <a:pt x="1619250" y="0"/>
                  </a:lnTo>
                  <a:lnTo>
                    <a:pt x="5847969" y="0"/>
                  </a:lnTo>
                  <a:lnTo>
                    <a:pt x="7467219" y="3238500"/>
                  </a:lnTo>
                  <a:lnTo>
                    <a:pt x="5847969" y="6477000"/>
                  </a:lnTo>
                  <a:lnTo>
                    <a:pt x="1619250" y="6477000"/>
                  </a:lnTo>
                  <a:close/>
                </a:path>
              </a:pathLst>
            </a:custGeom>
            <a:solidFill>
              <a:srgbClr val="FFFFFF"/>
            </a:solidFill>
            <a:ln w="57150" cap="sq">
              <a:solidFill>
                <a:srgbClr val="7AC143"/>
              </a:solidFill>
              <a:prstDash val="solid"/>
              <a:miter/>
            </a:ln>
          </p:spPr>
        </p:sp>
      </p:grpSp>
      <p:grpSp>
        <p:nvGrpSpPr>
          <p:cNvPr name="Group 18" id="18"/>
          <p:cNvGrpSpPr/>
          <p:nvPr/>
        </p:nvGrpSpPr>
        <p:grpSpPr>
          <a:xfrm rot="0">
            <a:off x="12166149" y="3188970"/>
            <a:ext cx="2688222" cy="3497580"/>
            <a:chOff x="0" y="0"/>
            <a:chExt cx="3584296" cy="4663440"/>
          </a:xfrm>
        </p:grpSpPr>
        <p:sp>
          <p:nvSpPr>
            <p:cNvPr name="Freeform 19" id="19" descr="Genesis logo"/>
            <p:cNvSpPr/>
            <p:nvPr/>
          </p:nvSpPr>
          <p:spPr>
            <a:xfrm flipH="false" flipV="false" rot="0">
              <a:off x="0" y="0"/>
              <a:ext cx="3584321" cy="4663440"/>
            </a:xfrm>
            <a:custGeom>
              <a:avLst/>
              <a:gdLst/>
              <a:ahLst/>
              <a:cxnLst/>
              <a:rect r="r" b="b" t="t" l="l"/>
              <a:pathLst>
                <a:path h="4663440" w="3584321">
                  <a:moveTo>
                    <a:pt x="0" y="0"/>
                  </a:moveTo>
                  <a:lnTo>
                    <a:pt x="3584321" y="0"/>
                  </a:lnTo>
                  <a:lnTo>
                    <a:pt x="3584321" y="4663440"/>
                  </a:lnTo>
                  <a:lnTo>
                    <a:pt x="0" y="4663440"/>
                  </a:lnTo>
                  <a:lnTo>
                    <a:pt x="0" y="0"/>
                  </a:lnTo>
                  <a:close/>
                </a:path>
              </a:pathLst>
            </a:custGeom>
            <a:blipFill>
              <a:blip r:embed="rId4"/>
              <a:stretch>
                <a:fillRect l="0" t="0" r="0" b="0"/>
              </a:stretch>
            </a:blipFill>
          </p:spPr>
        </p:sp>
      </p:grpSp>
      <p:sp>
        <p:nvSpPr>
          <p:cNvPr name="TextBox 20" id="20"/>
          <p:cNvSpPr txBox="true"/>
          <p:nvPr/>
        </p:nvSpPr>
        <p:spPr>
          <a:xfrm rot="0">
            <a:off x="822960" y="1379220"/>
            <a:ext cx="8503920" cy="2324100"/>
          </a:xfrm>
          <a:prstGeom prst="rect">
            <a:avLst/>
          </a:prstGeom>
        </p:spPr>
        <p:txBody>
          <a:bodyPr anchor="t" rtlCol="false" tIns="0" lIns="0" bIns="0" rIns="0">
            <a:spAutoFit/>
          </a:bodyPr>
          <a:lstStyle/>
          <a:p>
            <a:pPr algn="l">
              <a:lnSpc>
                <a:spcPts val="8748"/>
              </a:lnSpc>
            </a:pPr>
            <a:r>
              <a:rPr lang="en-US" b="true" sz="8100" spc="299">
                <a:solidFill>
                  <a:srgbClr val="FFFFFF"/>
                </a:solidFill>
                <a:latin typeface="Cambria Bold"/>
                <a:ea typeface="Cambria Bold"/>
                <a:cs typeface="Cambria Bold"/>
                <a:sym typeface="Cambria Bold"/>
              </a:rPr>
              <a:t>GENESIS</a:t>
            </a:r>
          </a:p>
          <a:p>
            <a:pPr algn="l">
              <a:lnSpc>
                <a:spcPts val="8748"/>
              </a:lnSpc>
            </a:pPr>
            <a:r>
              <a:rPr lang="en-US" b="true" sz="8100" spc="299">
                <a:solidFill>
                  <a:srgbClr val="7AC143"/>
                </a:solidFill>
                <a:latin typeface="Cambria Bold"/>
                <a:ea typeface="Cambria Bold"/>
                <a:cs typeface="Cambria Bold"/>
                <a:sym typeface="Cambria Bold"/>
              </a:rPr>
              <a:t>IDEATHON</a:t>
            </a:r>
          </a:p>
        </p:txBody>
      </p:sp>
      <p:grpSp>
        <p:nvGrpSpPr>
          <p:cNvPr name="Group 21" id="21"/>
          <p:cNvGrpSpPr/>
          <p:nvPr/>
        </p:nvGrpSpPr>
        <p:grpSpPr>
          <a:xfrm rot="0">
            <a:off x="811054" y="3897154"/>
            <a:ext cx="3178492" cy="599884"/>
            <a:chOff x="0" y="0"/>
            <a:chExt cx="4237990" cy="799846"/>
          </a:xfrm>
        </p:grpSpPr>
        <p:sp>
          <p:nvSpPr>
            <p:cNvPr name="Freeform 22" id="22"/>
            <p:cNvSpPr/>
            <p:nvPr/>
          </p:nvSpPr>
          <p:spPr>
            <a:xfrm flipH="false" flipV="false" rot="0">
              <a:off x="0" y="0"/>
              <a:ext cx="4237990" cy="799846"/>
            </a:xfrm>
            <a:custGeom>
              <a:avLst/>
              <a:gdLst/>
              <a:ahLst/>
              <a:cxnLst/>
              <a:rect r="r" b="b" t="t" l="l"/>
              <a:pathLst>
                <a:path h="799846" w="4237990">
                  <a:moveTo>
                    <a:pt x="0" y="399923"/>
                  </a:moveTo>
                  <a:cubicBezTo>
                    <a:pt x="0" y="179070"/>
                    <a:pt x="179070" y="0"/>
                    <a:pt x="399923" y="0"/>
                  </a:cubicBezTo>
                  <a:lnTo>
                    <a:pt x="3838067" y="0"/>
                  </a:lnTo>
                  <a:cubicBezTo>
                    <a:pt x="4058920" y="0"/>
                    <a:pt x="4237990" y="179070"/>
                    <a:pt x="4237990" y="399923"/>
                  </a:cubicBezTo>
                  <a:cubicBezTo>
                    <a:pt x="4237990" y="620776"/>
                    <a:pt x="4058920" y="799846"/>
                    <a:pt x="3838067" y="799846"/>
                  </a:cubicBezTo>
                  <a:lnTo>
                    <a:pt x="399923" y="799846"/>
                  </a:lnTo>
                  <a:cubicBezTo>
                    <a:pt x="179070" y="799846"/>
                    <a:pt x="0" y="620776"/>
                    <a:pt x="0" y="399923"/>
                  </a:cubicBezTo>
                  <a:close/>
                </a:path>
              </a:pathLst>
            </a:custGeom>
            <a:blipFill>
              <a:blip r:embed="rId3">
                <a:alphaModFix amt="0"/>
              </a:blip>
              <a:stretch>
                <a:fillRect l="0" t="-53241" r="0" b="-53241"/>
              </a:stretch>
            </a:blipFill>
            <a:ln w="23812" cap="sq">
              <a:solidFill>
                <a:srgbClr val="7AC143"/>
              </a:solidFill>
              <a:prstDash val="solid"/>
              <a:miter/>
            </a:ln>
          </p:spPr>
        </p:sp>
        <p:sp>
          <p:nvSpPr>
            <p:cNvPr name="TextBox 23" id="23"/>
            <p:cNvSpPr txBox="true"/>
            <p:nvPr/>
          </p:nvSpPr>
          <p:spPr>
            <a:xfrm>
              <a:off x="0" y="-47625"/>
              <a:ext cx="4237990" cy="847471"/>
            </a:xfrm>
            <a:prstGeom prst="rect">
              <a:avLst/>
            </a:prstGeom>
          </p:spPr>
          <p:txBody>
            <a:bodyPr anchor="ctr" rtlCol="false" tIns="50800" lIns="50800" bIns="50800" rIns="50800"/>
            <a:lstStyle/>
            <a:p>
              <a:pPr algn="ctr">
                <a:lnSpc>
                  <a:spcPts val="2340"/>
                </a:lnSpc>
              </a:pPr>
              <a:r>
                <a:rPr lang="en-US" b="true" sz="1950" spc="449">
                  <a:solidFill>
                    <a:srgbClr val="FFFFFF"/>
                  </a:solidFill>
                  <a:latin typeface="Calibri (MS) Bold"/>
                  <a:ea typeface="Calibri (MS) Bold"/>
                  <a:cs typeface="Calibri (MS) Bold"/>
                  <a:sym typeface="Calibri (MS) Bold"/>
                </a:rPr>
                <a:t>TEAM &amp; DOMAIN</a:t>
              </a:r>
            </a:p>
          </p:txBody>
        </p:sp>
      </p:grpSp>
      <p:sp>
        <p:nvSpPr>
          <p:cNvPr name="TextBox 24" id="24"/>
          <p:cNvSpPr txBox="true"/>
          <p:nvPr/>
        </p:nvSpPr>
        <p:spPr>
          <a:xfrm rot="0">
            <a:off x="579559" y="5278088"/>
            <a:ext cx="17708441" cy="5191792"/>
          </a:xfrm>
          <a:prstGeom prst="rect">
            <a:avLst/>
          </a:prstGeom>
        </p:spPr>
        <p:txBody>
          <a:bodyPr anchor="t" rtlCol="false" tIns="0" lIns="0" bIns="0" rIns="0">
            <a:spAutoFit/>
          </a:bodyPr>
          <a:lstStyle/>
          <a:p>
            <a:pPr algn="l" marL="610122" indent="-305061" lvl="1">
              <a:lnSpc>
                <a:spcPts val="3391"/>
              </a:lnSpc>
              <a:buFont typeface="Arial"/>
              <a:buChar char="•"/>
            </a:pPr>
            <a:r>
              <a:rPr lang="en-US" sz="2825">
                <a:solidFill>
                  <a:srgbClr val="FFFFFF"/>
                </a:solidFill>
                <a:latin typeface="Calibri (MS)"/>
                <a:ea typeface="Calibri (MS)"/>
                <a:cs typeface="Calibri (MS)"/>
                <a:sym typeface="Calibri (MS)"/>
              </a:rPr>
              <a:t>Team Name – INFINITE LOOPS</a:t>
            </a:r>
          </a:p>
          <a:p>
            <a:pPr algn="l" marL="610122" indent="-305061" lvl="1">
              <a:lnSpc>
                <a:spcPts val="3391"/>
              </a:lnSpc>
              <a:buFont typeface="Arial"/>
              <a:buChar char="•"/>
            </a:pPr>
            <a:r>
              <a:rPr lang="en-US" sz="2825">
                <a:solidFill>
                  <a:srgbClr val="FFFFFF"/>
                </a:solidFill>
                <a:latin typeface="Calibri (MS)"/>
                <a:ea typeface="Calibri (MS)"/>
                <a:cs typeface="Calibri (MS)"/>
                <a:sym typeface="Calibri (MS)"/>
              </a:rPr>
              <a:t>Team Members – THARUNESH P (CB.EN.U4ARE25054)</a:t>
            </a:r>
          </a:p>
          <a:p>
            <a:pPr algn="l">
              <a:lnSpc>
                <a:spcPts val="3391"/>
              </a:lnSpc>
            </a:pPr>
            <a:r>
              <a:rPr lang="en-US" sz="2825">
                <a:solidFill>
                  <a:srgbClr val="FFFFFF"/>
                </a:solidFill>
                <a:latin typeface="Calibri (MS)"/>
                <a:ea typeface="Calibri (MS)"/>
                <a:cs typeface="Calibri (MS)"/>
                <a:sym typeface="Calibri (MS)"/>
              </a:rPr>
              <a:t>                                         VIJEESHVAR S S (CB.EN.U4ARE25055)</a:t>
            </a:r>
          </a:p>
          <a:p>
            <a:pPr algn="l">
              <a:lnSpc>
                <a:spcPts val="3391"/>
              </a:lnSpc>
            </a:pPr>
            <a:r>
              <a:rPr lang="en-US" sz="2825">
                <a:solidFill>
                  <a:srgbClr val="FFFFFF"/>
                </a:solidFill>
                <a:latin typeface="Calibri (MS)"/>
                <a:ea typeface="Calibri (MS)"/>
                <a:cs typeface="Calibri (MS)"/>
                <a:sym typeface="Calibri (MS)"/>
              </a:rPr>
              <a:t>                                         RUPESH GOKULA KRISHNAN </a:t>
            </a:r>
          </a:p>
          <a:p>
            <a:pPr algn="l">
              <a:lnSpc>
                <a:spcPts val="3391"/>
              </a:lnSpc>
            </a:pPr>
            <a:r>
              <a:rPr lang="en-US" sz="2825">
                <a:solidFill>
                  <a:srgbClr val="FFFFFF"/>
                </a:solidFill>
                <a:latin typeface="Calibri (MS)"/>
                <a:ea typeface="Calibri (MS)"/>
                <a:cs typeface="Calibri (MS)"/>
                <a:sym typeface="Calibri (MS)"/>
              </a:rPr>
              <a:t>                                                                            (CB.EN.U4ARE25038)</a:t>
            </a:r>
          </a:p>
          <a:p>
            <a:pPr algn="l">
              <a:lnSpc>
                <a:spcPts val="3391"/>
              </a:lnSpc>
            </a:pPr>
            <a:r>
              <a:rPr lang="en-US" sz="2825">
                <a:solidFill>
                  <a:srgbClr val="FFFFFF"/>
                </a:solidFill>
                <a:latin typeface="Calibri (MS)"/>
                <a:ea typeface="Calibri (MS)"/>
                <a:cs typeface="Calibri (MS)"/>
                <a:sym typeface="Calibri (MS)"/>
              </a:rPr>
              <a:t>                                         SIDDHARTH T (CB.EN.U4ARE25045)</a:t>
            </a:r>
          </a:p>
          <a:p>
            <a:pPr algn="l" marL="610122" indent="-305061" lvl="1">
              <a:lnSpc>
                <a:spcPts val="3391"/>
              </a:lnSpc>
              <a:buFont typeface="Arial"/>
              <a:buChar char="•"/>
            </a:pPr>
            <a:r>
              <a:rPr lang="en-US" sz="2825">
                <a:solidFill>
                  <a:srgbClr val="FFFFFF"/>
                </a:solidFill>
                <a:latin typeface="Calibri (MS)"/>
                <a:ea typeface="Calibri (MS)"/>
                <a:cs typeface="Calibri (MS)"/>
                <a:sym typeface="Calibri (MS)"/>
              </a:rPr>
              <a:t>Selected Domain – “1”</a:t>
            </a:r>
          </a:p>
          <a:p>
            <a:pPr algn="l" marL="610122" indent="-305061" lvl="1">
              <a:lnSpc>
                <a:spcPts val="3391"/>
              </a:lnSpc>
              <a:buFont typeface="Arial"/>
              <a:buChar char="•"/>
            </a:pPr>
            <a:r>
              <a:rPr lang="en-US" sz="2825">
                <a:solidFill>
                  <a:srgbClr val="FFFFFF"/>
                </a:solidFill>
                <a:latin typeface="Calibri (MS)"/>
                <a:ea typeface="Calibri (MS)"/>
                <a:cs typeface="Calibri (MS)"/>
                <a:sym typeface="Calibri (MS)"/>
              </a:rPr>
              <a:t>Problem Statement – In automated industrial plants, unexpected machine breakdowns trigger dozens of confusing sensor alarms at once. Without an automated way to trace the root cause, technicians must manually hunt through hundreds of pages of equipment manuals and past shift notes to figure out what went wrong, turning simple mechanical or electrical faults into hours of costly assembly line downtime.</a:t>
            </a:r>
          </a:p>
          <a:p>
            <a:pPr algn="l">
              <a:lnSpc>
                <a:spcPts val="3391"/>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5400000">
            <a:off x="15903559" y="7017544"/>
            <a:ext cx="2161927" cy="1875473"/>
            <a:chOff x="0" y="0"/>
            <a:chExt cx="2882570" cy="2500630"/>
          </a:xfrm>
        </p:grpSpPr>
        <p:sp>
          <p:nvSpPr>
            <p:cNvPr name="Freeform 11" id="11"/>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2" id="12"/>
          <p:cNvGrpSpPr/>
          <p:nvPr/>
        </p:nvGrpSpPr>
        <p:grpSpPr>
          <a:xfrm rot="5400000">
            <a:off x="14613988" y="8011954"/>
            <a:ext cx="1449219" cy="1258252"/>
            <a:chOff x="0" y="0"/>
            <a:chExt cx="1932292" cy="1677670"/>
          </a:xfrm>
        </p:grpSpPr>
        <p:sp>
          <p:nvSpPr>
            <p:cNvPr name="Freeform 13" id="13"/>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4" id="14"/>
          <p:cNvGrpSpPr/>
          <p:nvPr/>
        </p:nvGrpSpPr>
        <p:grpSpPr>
          <a:xfrm rot="5400000">
            <a:off x="17357188" y="5748814"/>
            <a:ext cx="1449219" cy="1258252"/>
            <a:chOff x="0" y="0"/>
            <a:chExt cx="1932292" cy="1677670"/>
          </a:xfrm>
        </p:grpSpPr>
        <p:sp>
          <p:nvSpPr>
            <p:cNvPr name="Freeform 15" id="15"/>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6" id="16"/>
          <p:cNvGrpSpPr/>
          <p:nvPr/>
        </p:nvGrpSpPr>
        <p:grpSpPr>
          <a:xfrm rot="0">
            <a:off x="4289680" y="480060"/>
            <a:ext cx="11247120" cy="1234440"/>
            <a:chOff x="0" y="0"/>
            <a:chExt cx="14996160" cy="1645920"/>
          </a:xfrm>
        </p:grpSpPr>
        <p:sp>
          <p:nvSpPr>
            <p:cNvPr name="Freeform 17" id="17"/>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8" id="18"/>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DOMAIN PROBLEM IN OUR WORDS</a:t>
              </a:r>
            </a:p>
          </p:txBody>
        </p:sp>
      </p:grpSp>
      <p:grpSp>
        <p:nvGrpSpPr>
          <p:cNvPr name="Group 19" id="19"/>
          <p:cNvGrpSpPr/>
          <p:nvPr/>
        </p:nvGrpSpPr>
        <p:grpSpPr>
          <a:xfrm rot="0">
            <a:off x="678656" y="472916"/>
            <a:ext cx="3923347" cy="1248727"/>
            <a:chOff x="0" y="0"/>
            <a:chExt cx="5231130" cy="1664970"/>
          </a:xfrm>
        </p:grpSpPr>
        <p:sp>
          <p:nvSpPr>
            <p:cNvPr name="Freeform 20" id="20"/>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1" id="21"/>
          <p:cNvGrpSpPr/>
          <p:nvPr/>
        </p:nvGrpSpPr>
        <p:grpSpPr>
          <a:xfrm rot="0">
            <a:off x="898112" y="678656"/>
            <a:ext cx="960692" cy="837248"/>
            <a:chOff x="0" y="0"/>
            <a:chExt cx="1280922" cy="1116330"/>
          </a:xfrm>
        </p:grpSpPr>
        <p:sp>
          <p:nvSpPr>
            <p:cNvPr name="Freeform 22" id="22"/>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3" id="23"/>
          <p:cNvGrpSpPr/>
          <p:nvPr/>
        </p:nvGrpSpPr>
        <p:grpSpPr>
          <a:xfrm rot="0">
            <a:off x="1104138" y="822960"/>
            <a:ext cx="548640" cy="548640"/>
            <a:chOff x="0" y="0"/>
            <a:chExt cx="731520" cy="731520"/>
          </a:xfrm>
        </p:grpSpPr>
        <p:sp>
          <p:nvSpPr>
            <p:cNvPr name="Freeform 24" id="24"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5" id="25"/>
          <p:cNvGrpSpPr/>
          <p:nvPr/>
        </p:nvGrpSpPr>
        <p:grpSpPr>
          <a:xfrm rot="0">
            <a:off x="822960" y="2194560"/>
            <a:ext cx="685800" cy="593903"/>
            <a:chOff x="0" y="0"/>
            <a:chExt cx="914400" cy="791870"/>
          </a:xfrm>
        </p:grpSpPr>
        <p:sp>
          <p:nvSpPr>
            <p:cNvPr name="Freeform 26" id="26"/>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27" id="27"/>
          <p:cNvGrpSpPr/>
          <p:nvPr/>
        </p:nvGrpSpPr>
        <p:grpSpPr>
          <a:xfrm rot="0">
            <a:off x="960120" y="2285086"/>
            <a:ext cx="411480" cy="411480"/>
            <a:chOff x="0" y="0"/>
            <a:chExt cx="548640" cy="548640"/>
          </a:xfrm>
        </p:grpSpPr>
        <p:sp>
          <p:nvSpPr>
            <p:cNvPr name="Freeform 28" id="28"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29" id="29"/>
          <p:cNvGrpSpPr/>
          <p:nvPr/>
        </p:nvGrpSpPr>
        <p:grpSpPr>
          <a:xfrm rot="0">
            <a:off x="1755648" y="2125980"/>
            <a:ext cx="14828272" cy="7505458"/>
            <a:chOff x="0" y="0"/>
            <a:chExt cx="19771030" cy="10007278"/>
          </a:xfrm>
        </p:grpSpPr>
        <p:sp>
          <p:nvSpPr>
            <p:cNvPr name="Freeform 30" id="30"/>
            <p:cNvSpPr/>
            <p:nvPr/>
          </p:nvSpPr>
          <p:spPr>
            <a:xfrm flipH="false" flipV="false" rot="0">
              <a:off x="0" y="0"/>
              <a:ext cx="19771030" cy="10007278"/>
            </a:xfrm>
            <a:custGeom>
              <a:avLst/>
              <a:gdLst/>
              <a:ahLst/>
              <a:cxnLst/>
              <a:rect r="r" b="b" t="t" l="l"/>
              <a:pathLst>
                <a:path h="10007278" w="19771030">
                  <a:moveTo>
                    <a:pt x="0" y="0"/>
                  </a:moveTo>
                  <a:lnTo>
                    <a:pt x="19771030" y="0"/>
                  </a:lnTo>
                  <a:lnTo>
                    <a:pt x="19771030" y="10007278"/>
                  </a:lnTo>
                  <a:lnTo>
                    <a:pt x="0" y="10007278"/>
                  </a:lnTo>
                  <a:close/>
                </a:path>
              </a:pathLst>
            </a:custGeom>
            <a:blipFill>
              <a:blip r:embed="rId4">
                <a:alphaModFix amt="0"/>
              </a:blip>
              <a:stretch>
                <a:fillRect l="0" t="-32363" r="2876" b="57585"/>
              </a:stretch>
            </a:blipFill>
          </p:spPr>
        </p:sp>
        <p:sp>
          <p:nvSpPr>
            <p:cNvPr name="TextBox 31" id="31"/>
            <p:cNvSpPr txBox="true"/>
            <p:nvPr/>
          </p:nvSpPr>
          <p:spPr>
            <a:xfrm>
              <a:off x="0" y="-57150"/>
              <a:ext cx="19771030" cy="10064428"/>
            </a:xfrm>
            <a:prstGeom prst="rect">
              <a:avLst/>
            </a:prstGeom>
          </p:spPr>
          <p:txBody>
            <a:bodyPr anchor="ctr" rtlCol="false" tIns="0" lIns="0" bIns="0" rIns="0"/>
            <a:lstStyle/>
            <a:p>
              <a:pPr algn="l">
                <a:lnSpc>
                  <a:spcPts val="3240"/>
                </a:lnSpc>
              </a:pPr>
              <a:r>
                <a:rPr lang="en-US" sz="2700" u="sng" b="true">
                  <a:solidFill>
                    <a:srgbClr val="094542"/>
                  </a:solidFill>
                  <a:latin typeface="Calibri (MS) Bold"/>
                  <a:ea typeface="Calibri (MS) Bold"/>
                  <a:cs typeface="Calibri (MS) Bold"/>
                  <a:sym typeface="Calibri (MS) Bold"/>
                </a:rPr>
                <a:t>Explain the problem in your domain simply, in your own words: </a:t>
              </a:r>
            </a:p>
            <a:p>
              <a:pPr algn="l" marL="582930" indent="-291465" lvl="1">
                <a:lnSpc>
                  <a:spcPts val="3240"/>
                </a:lnSpc>
                <a:buFont typeface="Arial"/>
                <a:buChar char="•"/>
              </a:pPr>
              <a:r>
                <a:rPr lang="en-US" sz="2700">
                  <a:solidFill>
                    <a:srgbClr val="000000"/>
                  </a:solidFill>
                  <a:latin typeface="Calibri (MS)"/>
                  <a:ea typeface="Calibri (MS)"/>
                  <a:cs typeface="Calibri (MS)"/>
                  <a:sym typeface="Calibri (MS)"/>
                </a:rPr>
                <a:t>Our problem is that factory machines can show many error alerts, but it is often difficult for technicians to quickly understand what is actually causing the problem. They have to check machine data, manuals, and previous maintenance records separately. We want to make this process faster and easier by using AI to find the likely cause and suggest what to do next.</a:t>
              </a:r>
            </a:p>
            <a:p>
              <a:pPr algn="l">
                <a:lnSpc>
                  <a:spcPts val="3240"/>
                </a:lnSpc>
              </a:pPr>
            </a:p>
            <a:p>
              <a:pPr algn="l">
                <a:lnSpc>
                  <a:spcPts val="3240"/>
                </a:lnSpc>
              </a:pPr>
              <a:r>
                <a:rPr lang="en-US" sz="2700" u="sng" b="true">
                  <a:solidFill>
                    <a:srgbClr val="094542"/>
                  </a:solidFill>
                  <a:latin typeface="Calibri (MS) Bold"/>
                  <a:ea typeface="Calibri (MS) Bold"/>
                  <a:cs typeface="Calibri (MS) Bold"/>
                  <a:sym typeface="Calibri (MS) Bold"/>
                </a:rPr>
                <a:t>What exactly needs to be solved?</a:t>
              </a:r>
            </a:p>
            <a:p>
              <a:pPr algn="l" marL="582930" indent="-291465" lvl="1">
                <a:lnSpc>
                  <a:spcPts val="3240"/>
                </a:lnSpc>
                <a:buFont typeface="Arial"/>
                <a:buChar char="•"/>
              </a:pPr>
              <a:r>
                <a:rPr lang="en-US" sz="2700">
                  <a:solidFill>
                    <a:srgbClr val="094542"/>
                  </a:solidFill>
                  <a:latin typeface="Calibri (MS)"/>
                  <a:ea typeface="Calibri (MS)"/>
                  <a:cs typeface="Calibri (MS)"/>
                  <a:sym typeface="Calibri (MS)"/>
                </a:rPr>
                <a:t> </a:t>
              </a:r>
              <a:r>
                <a:rPr lang="en-US" sz="2700">
                  <a:solidFill>
                    <a:srgbClr val="000000"/>
                  </a:solidFill>
                  <a:latin typeface="Calibri (MS)"/>
                  <a:ea typeface="Calibri (MS)"/>
                  <a:cs typeface="Calibri (MS)"/>
                  <a:sym typeface="Calibri (MS)"/>
                </a:rPr>
                <a:t>In factories, machines often give different error alerts and warning signals, but understanding the actual reason behind the problem can be difficult. Technicians have to check machine data, manuals, and old maintenance records separately to find the cause. We need a simple way to bring all this information together and quickly identify what is causing the machine problem.</a:t>
              </a:r>
            </a:p>
            <a:p>
              <a:pPr algn="l">
                <a:lnSpc>
                  <a:spcPts val="3240"/>
                </a:lnSpc>
              </a:pPr>
            </a:p>
            <a:p>
              <a:pPr algn="l">
                <a:lnSpc>
                  <a:spcPts val="3240"/>
                </a:lnSpc>
              </a:pPr>
              <a:r>
                <a:rPr lang="en-US" sz="2700" u="sng" b="true">
                  <a:solidFill>
                    <a:srgbClr val="094542"/>
                  </a:solidFill>
                  <a:latin typeface="Calibri (MS) Bold"/>
                  <a:ea typeface="Calibri (MS) Bold"/>
                  <a:cs typeface="Calibri (MS) Bold"/>
                  <a:sym typeface="Calibri (MS) Bold"/>
                </a:rPr>
                <a:t>Why is it important right now?</a:t>
              </a:r>
            </a:p>
            <a:p>
              <a:pPr algn="l" marL="582930" indent="-291465" lvl="1">
                <a:lnSpc>
                  <a:spcPts val="3240"/>
                </a:lnSpc>
                <a:buFont typeface="Arial"/>
                <a:buChar char="•"/>
              </a:pPr>
              <a:r>
                <a:rPr lang="en-US" sz="2700">
                  <a:solidFill>
                    <a:srgbClr val="000000"/>
                  </a:solidFill>
                  <a:latin typeface="Calibri (MS)"/>
                  <a:ea typeface="Calibri (MS)"/>
                  <a:cs typeface="Calibri (MS)"/>
                  <a:sym typeface="Calibri (MS)"/>
                </a:rPr>
                <a:t>When a machine stops or has a serious problem, every minute of downtime can affect production and cost money. If technicians can find the cause quickly, they can take the right action sooner, reduce machine downtime, and avoid bigger problems.</a:t>
              </a:r>
            </a:p>
            <a:p>
              <a:pPr algn="l">
                <a:lnSpc>
                  <a:spcPts val="3240"/>
                </a:lnSpc>
              </a:pPr>
            </a:p>
            <a:p>
              <a:pPr algn="l">
                <a:lnSpc>
                  <a:spcPts val="3240"/>
                </a:lnSpc>
              </a:pPr>
            </a:p>
          </p:txBody>
        </p:sp>
      </p:grpSp>
      <p:grpSp>
        <p:nvGrpSpPr>
          <p:cNvPr name="Group 32" id="32"/>
          <p:cNvGrpSpPr/>
          <p:nvPr/>
        </p:nvGrpSpPr>
        <p:grpSpPr>
          <a:xfrm rot="0">
            <a:off x="16888511" y="9614916"/>
            <a:ext cx="685800" cy="593903"/>
            <a:chOff x="0" y="0"/>
            <a:chExt cx="914400" cy="791870"/>
          </a:xfrm>
        </p:grpSpPr>
        <p:sp>
          <p:nvSpPr>
            <p:cNvPr name="Freeform 33" id="33"/>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34" id="34"/>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2</a:t>
              </a:r>
            </a:p>
          </p:txBody>
        </p:sp>
      </p:grpSp>
      <p:grpSp>
        <p:nvGrpSpPr>
          <p:cNvPr name="Group 35" id="35"/>
          <p:cNvGrpSpPr/>
          <p:nvPr/>
        </p:nvGrpSpPr>
        <p:grpSpPr>
          <a:xfrm rot="0">
            <a:off x="2057400" y="576072"/>
            <a:ext cx="2441448" cy="1070148"/>
            <a:chOff x="0" y="0"/>
            <a:chExt cx="3255264" cy="1426865"/>
          </a:xfrm>
        </p:grpSpPr>
        <p:sp>
          <p:nvSpPr>
            <p:cNvPr name="Freeform 36" id="36"/>
            <p:cNvSpPr/>
            <p:nvPr/>
          </p:nvSpPr>
          <p:spPr>
            <a:xfrm flipH="false" flipV="false" rot="0">
              <a:off x="0" y="0"/>
              <a:ext cx="3255264" cy="1426865"/>
            </a:xfrm>
            <a:custGeom>
              <a:avLst/>
              <a:gdLst/>
              <a:ahLst/>
              <a:cxnLst/>
              <a:rect r="r" b="b" t="t" l="l"/>
              <a:pathLst>
                <a:path h="1426865" w="3255264">
                  <a:moveTo>
                    <a:pt x="0" y="0"/>
                  </a:moveTo>
                  <a:lnTo>
                    <a:pt x="3255264" y="0"/>
                  </a:lnTo>
                  <a:lnTo>
                    <a:pt x="3255264" y="1426865"/>
                  </a:lnTo>
                  <a:lnTo>
                    <a:pt x="0" y="1426865"/>
                  </a:lnTo>
                  <a:close/>
                </a:path>
              </a:pathLst>
            </a:custGeom>
            <a:blipFill>
              <a:blip r:embed="rId4">
                <a:alphaModFix amt="0"/>
              </a:blip>
              <a:stretch>
                <a:fillRect l="-4781" t="0" r="-4781" b="2591"/>
              </a:stretch>
            </a:blipFill>
          </p:spPr>
        </p:sp>
        <p:sp>
          <p:nvSpPr>
            <p:cNvPr name="TextBox 37" id="37"/>
            <p:cNvSpPr txBox="true"/>
            <p:nvPr/>
          </p:nvSpPr>
          <p:spPr>
            <a:xfrm>
              <a:off x="0" y="-38100"/>
              <a:ext cx="3255264" cy="1464965"/>
            </a:xfrm>
            <a:prstGeom prst="rect">
              <a:avLst/>
            </a:prstGeom>
          </p:spPr>
          <p:txBody>
            <a:bodyPr anchor="ctr" rtlCol="false" tIns="0" lIns="0" bIns="0" rIns="0"/>
            <a:lstStyle/>
            <a:p>
              <a:pPr algn="l">
                <a:lnSpc>
                  <a:spcPts val="1859"/>
                </a:lnSpc>
              </a:pPr>
              <a:r>
                <a:rPr lang="en-US" b="true" sz="1549" spc="516">
                  <a:solidFill>
                    <a:srgbClr val="5B6F6B"/>
                  </a:solidFill>
                  <a:latin typeface="Calibri (MS) Bold"/>
                  <a:ea typeface="Calibri (MS) Bold"/>
                  <a:cs typeface="Calibri (MS) Bold"/>
                  <a:sym typeface="Calibri (MS) Bold"/>
                </a:rPr>
                <a:t>TEAM</a:t>
              </a:r>
            </a:p>
            <a:p>
              <a:pPr algn="l">
                <a:lnSpc>
                  <a:spcPts val="2939"/>
                </a:lnSpc>
              </a:pPr>
              <a:r>
                <a:rPr lang="en-US" b="true" sz="2449" spc="816">
                  <a:solidFill>
                    <a:srgbClr val="026855"/>
                  </a:solidFill>
                  <a:latin typeface="Calibri (MS) Bold"/>
                  <a:ea typeface="Calibri (MS) Bold"/>
                  <a:cs typeface="Calibri (MS) Bold"/>
                  <a:sym typeface="Calibri (MS) Bold"/>
                </a:rPr>
                <a:t>INFINITE LOOPS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5400000">
            <a:off x="15903559" y="7017544"/>
            <a:ext cx="2161927" cy="1875473"/>
            <a:chOff x="0" y="0"/>
            <a:chExt cx="2882570" cy="2500630"/>
          </a:xfrm>
        </p:grpSpPr>
        <p:sp>
          <p:nvSpPr>
            <p:cNvPr name="Freeform 11" id="11"/>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2" id="12"/>
          <p:cNvGrpSpPr/>
          <p:nvPr/>
        </p:nvGrpSpPr>
        <p:grpSpPr>
          <a:xfrm rot="5400000">
            <a:off x="14613988" y="8011954"/>
            <a:ext cx="1449219" cy="1258252"/>
            <a:chOff x="0" y="0"/>
            <a:chExt cx="1932292" cy="1677670"/>
          </a:xfrm>
        </p:grpSpPr>
        <p:sp>
          <p:nvSpPr>
            <p:cNvPr name="Freeform 13" id="13"/>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4" id="14"/>
          <p:cNvGrpSpPr/>
          <p:nvPr/>
        </p:nvGrpSpPr>
        <p:grpSpPr>
          <a:xfrm rot="5400000">
            <a:off x="17357188" y="5748814"/>
            <a:ext cx="1449219" cy="1258252"/>
            <a:chOff x="0" y="0"/>
            <a:chExt cx="1932292" cy="1677670"/>
          </a:xfrm>
        </p:grpSpPr>
        <p:sp>
          <p:nvSpPr>
            <p:cNvPr name="Freeform 15" id="15"/>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6" id="16"/>
          <p:cNvGrpSpPr/>
          <p:nvPr/>
        </p:nvGrpSpPr>
        <p:grpSpPr>
          <a:xfrm rot="0">
            <a:off x="4869180" y="480060"/>
            <a:ext cx="11247120" cy="1234440"/>
            <a:chOff x="0" y="0"/>
            <a:chExt cx="14996160" cy="1645920"/>
          </a:xfrm>
        </p:grpSpPr>
        <p:sp>
          <p:nvSpPr>
            <p:cNvPr name="Freeform 17" id="17"/>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8" id="18"/>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WHO IS AFFECTED?</a:t>
              </a:r>
            </a:p>
          </p:txBody>
        </p:sp>
      </p:grpSp>
      <p:grpSp>
        <p:nvGrpSpPr>
          <p:cNvPr name="Group 19" id="19"/>
          <p:cNvGrpSpPr/>
          <p:nvPr/>
        </p:nvGrpSpPr>
        <p:grpSpPr>
          <a:xfrm rot="0">
            <a:off x="678656" y="472916"/>
            <a:ext cx="3923347" cy="1248727"/>
            <a:chOff x="0" y="0"/>
            <a:chExt cx="5231130" cy="1664970"/>
          </a:xfrm>
        </p:grpSpPr>
        <p:sp>
          <p:nvSpPr>
            <p:cNvPr name="Freeform 20" id="20"/>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1" id="21"/>
          <p:cNvGrpSpPr/>
          <p:nvPr/>
        </p:nvGrpSpPr>
        <p:grpSpPr>
          <a:xfrm rot="0">
            <a:off x="898112" y="678656"/>
            <a:ext cx="960692" cy="837248"/>
            <a:chOff x="0" y="0"/>
            <a:chExt cx="1280922" cy="1116330"/>
          </a:xfrm>
        </p:grpSpPr>
        <p:sp>
          <p:nvSpPr>
            <p:cNvPr name="Freeform 22" id="22"/>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3" id="23"/>
          <p:cNvGrpSpPr/>
          <p:nvPr/>
        </p:nvGrpSpPr>
        <p:grpSpPr>
          <a:xfrm rot="0">
            <a:off x="1104138" y="822960"/>
            <a:ext cx="548640" cy="548640"/>
            <a:chOff x="0" y="0"/>
            <a:chExt cx="731520" cy="731520"/>
          </a:xfrm>
        </p:grpSpPr>
        <p:sp>
          <p:nvSpPr>
            <p:cNvPr name="Freeform 24" id="24"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5" id="25"/>
          <p:cNvGrpSpPr/>
          <p:nvPr/>
        </p:nvGrpSpPr>
        <p:grpSpPr>
          <a:xfrm rot="0">
            <a:off x="822960" y="2194560"/>
            <a:ext cx="685800" cy="593903"/>
            <a:chOff x="0" y="0"/>
            <a:chExt cx="914400" cy="791870"/>
          </a:xfrm>
        </p:grpSpPr>
        <p:sp>
          <p:nvSpPr>
            <p:cNvPr name="Freeform 26" id="26"/>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27" id="27"/>
          <p:cNvGrpSpPr/>
          <p:nvPr/>
        </p:nvGrpSpPr>
        <p:grpSpPr>
          <a:xfrm rot="0">
            <a:off x="960120" y="2285086"/>
            <a:ext cx="411480" cy="411480"/>
            <a:chOff x="0" y="0"/>
            <a:chExt cx="548640" cy="548640"/>
          </a:xfrm>
        </p:grpSpPr>
        <p:sp>
          <p:nvSpPr>
            <p:cNvPr name="Freeform 28" id="28"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29" id="29"/>
          <p:cNvGrpSpPr/>
          <p:nvPr/>
        </p:nvGrpSpPr>
        <p:grpSpPr>
          <a:xfrm rot="0">
            <a:off x="1755648" y="2125980"/>
            <a:ext cx="14401800" cy="754380"/>
            <a:chOff x="0" y="0"/>
            <a:chExt cx="19202400" cy="1005840"/>
          </a:xfrm>
        </p:grpSpPr>
        <p:sp>
          <p:nvSpPr>
            <p:cNvPr name="Freeform 30" id="30"/>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1" id="31"/>
            <p:cNvSpPr txBox="true"/>
            <p:nvPr/>
          </p:nvSpPr>
          <p:spPr>
            <a:xfrm>
              <a:off x="0" y="-57150"/>
              <a:ext cx="19202400" cy="1062990"/>
            </a:xfrm>
            <a:prstGeom prst="rect">
              <a:avLst/>
            </a:prstGeom>
          </p:spPr>
          <p:txBody>
            <a:bodyPr anchor="ctr" rtlCol="false" tIns="0" lIns="0" bIns="0" rIns="0"/>
            <a:lstStyle/>
            <a:p>
              <a:pPr algn="l">
                <a:lnSpc>
                  <a:spcPts val="3479"/>
                </a:lnSpc>
              </a:pPr>
              <a:r>
                <a:rPr lang="en-US" b="true" sz="2899" u="sng">
                  <a:solidFill>
                    <a:srgbClr val="000000"/>
                  </a:solidFill>
                  <a:latin typeface="Calibri (MS) Bold"/>
                  <a:ea typeface="Calibri (MS) Bold"/>
                  <a:cs typeface="Calibri (MS) Bold"/>
                  <a:sym typeface="Calibri (MS) Bold"/>
                </a:rPr>
                <a:t>Target users, stakeholders, beneficiaries</a:t>
              </a:r>
            </a:p>
          </p:txBody>
        </p:sp>
      </p:grpSp>
      <p:sp>
        <p:nvSpPr>
          <p:cNvPr name="TextBox 32" id="32"/>
          <p:cNvSpPr txBox="true"/>
          <p:nvPr/>
        </p:nvSpPr>
        <p:spPr>
          <a:xfrm rot="0">
            <a:off x="1755648" y="2743200"/>
            <a:ext cx="14604511" cy="2400300"/>
          </a:xfrm>
          <a:prstGeom prst="rect">
            <a:avLst/>
          </a:prstGeom>
        </p:spPr>
        <p:txBody>
          <a:bodyPr anchor="t" rtlCol="false" tIns="0" lIns="0" bIns="0" rIns="0">
            <a:spAutoFit/>
          </a:bodyPr>
          <a:lstStyle/>
          <a:p>
            <a:pPr algn="l">
              <a:lnSpc>
                <a:spcPts val="3120"/>
              </a:lnSpc>
            </a:pPr>
            <a:r>
              <a:rPr lang="en-US" b="true" sz="2600" u="sng">
                <a:solidFill>
                  <a:srgbClr val="000000"/>
                </a:solidFill>
                <a:latin typeface="Calibri (MS) Bold"/>
                <a:ea typeface="Calibri (MS) Bold"/>
                <a:cs typeface="Calibri (MS) Bold"/>
                <a:sym typeface="Calibri (MS) Bold"/>
              </a:rPr>
              <a:t>Primary users / target group</a:t>
            </a:r>
          </a:p>
          <a:p>
            <a:pPr algn="l" marL="561341" indent="-280670" lvl="1">
              <a:lnSpc>
                <a:spcPts val="3120"/>
              </a:lnSpc>
              <a:buFont typeface="Arial"/>
              <a:buChar char="•"/>
            </a:pPr>
            <a:r>
              <a:rPr lang="en-US" sz="2600">
                <a:solidFill>
                  <a:srgbClr val="000000"/>
                </a:solidFill>
                <a:latin typeface="Calibri (MS)"/>
                <a:ea typeface="Calibri (MS)"/>
                <a:cs typeface="Calibri (MS)"/>
                <a:sym typeface="Calibri (MS)"/>
              </a:rPr>
              <a:t>Machine operators</a:t>
            </a:r>
          </a:p>
          <a:p>
            <a:pPr algn="l" marL="561341" indent="-280670" lvl="1">
              <a:lnSpc>
                <a:spcPts val="3120"/>
              </a:lnSpc>
              <a:buFont typeface="Arial"/>
              <a:buChar char="•"/>
            </a:pPr>
            <a:r>
              <a:rPr lang="en-US" sz="2600">
                <a:solidFill>
                  <a:srgbClr val="000000"/>
                </a:solidFill>
                <a:latin typeface="Calibri (MS)"/>
                <a:ea typeface="Calibri (MS)"/>
                <a:cs typeface="Calibri (MS)"/>
                <a:sym typeface="Calibri (MS)"/>
              </a:rPr>
              <a:t>Maintenance Technicians &amp; Troubleshooting Engineers</a:t>
            </a:r>
          </a:p>
          <a:p>
            <a:pPr algn="l" marL="561341" indent="-280670" lvl="1">
              <a:lnSpc>
                <a:spcPts val="3120"/>
              </a:lnSpc>
              <a:buFont typeface="Arial"/>
              <a:buChar char="•"/>
            </a:pPr>
            <a:r>
              <a:rPr lang="en-US" sz="2600">
                <a:solidFill>
                  <a:srgbClr val="000000"/>
                </a:solidFill>
                <a:latin typeface="Calibri (MS)"/>
                <a:ea typeface="Calibri (MS)"/>
                <a:cs typeface="Calibri (MS)"/>
                <a:sym typeface="Calibri (MS)"/>
              </a:rPr>
              <a:t>Automation &amp; Controls Engineers</a:t>
            </a:r>
          </a:p>
          <a:p>
            <a:pPr algn="l" marL="561341" indent="-280670" lvl="1">
              <a:lnSpc>
                <a:spcPts val="3120"/>
              </a:lnSpc>
              <a:buFont typeface="Arial"/>
              <a:buChar char="•"/>
            </a:pPr>
            <a:r>
              <a:rPr lang="en-US" sz="2600">
                <a:solidFill>
                  <a:srgbClr val="000000"/>
                </a:solidFill>
                <a:latin typeface="Calibri (MS)"/>
                <a:ea typeface="Calibri (MS)"/>
                <a:cs typeface="Calibri (MS)"/>
                <a:sym typeface="Calibri (MS)"/>
              </a:rPr>
              <a:t>Shift supervisors &amp; Plant operators</a:t>
            </a:r>
          </a:p>
          <a:p>
            <a:pPr algn="l">
              <a:lnSpc>
                <a:spcPts val="3120"/>
              </a:lnSpc>
            </a:pPr>
          </a:p>
        </p:txBody>
      </p:sp>
      <p:grpSp>
        <p:nvGrpSpPr>
          <p:cNvPr name="Group 33" id="33"/>
          <p:cNvGrpSpPr/>
          <p:nvPr/>
        </p:nvGrpSpPr>
        <p:grpSpPr>
          <a:xfrm rot="0">
            <a:off x="16888511" y="9614916"/>
            <a:ext cx="685800" cy="593903"/>
            <a:chOff x="0" y="0"/>
            <a:chExt cx="914400" cy="791870"/>
          </a:xfrm>
        </p:grpSpPr>
        <p:sp>
          <p:nvSpPr>
            <p:cNvPr name="Freeform 34" id="34"/>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35" id="35"/>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3</a:t>
              </a:r>
            </a:p>
          </p:txBody>
        </p:sp>
      </p:grpSp>
      <p:grpSp>
        <p:nvGrpSpPr>
          <p:cNvPr name="Group 36" id="36"/>
          <p:cNvGrpSpPr/>
          <p:nvPr/>
        </p:nvGrpSpPr>
        <p:grpSpPr>
          <a:xfrm rot="0">
            <a:off x="2057400" y="576072"/>
            <a:ext cx="2441448" cy="1070148"/>
            <a:chOff x="0" y="0"/>
            <a:chExt cx="3255264" cy="1426865"/>
          </a:xfrm>
        </p:grpSpPr>
        <p:sp>
          <p:nvSpPr>
            <p:cNvPr name="Freeform 37" id="37"/>
            <p:cNvSpPr/>
            <p:nvPr/>
          </p:nvSpPr>
          <p:spPr>
            <a:xfrm flipH="false" flipV="false" rot="0">
              <a:off x="0" y="0"/>
              <a:ext cx="3255264" cy="1426865"/>
            </a:xfrm>
            <a:custGeom>
              <a:avLst/>
              <a:gdLst/>
              <a:ahLst/>
              <a:cxnLst/>
              <a:rect r="r" b="b" t="t" l="l"/>
              <a:pathLst>
                <a:path h="1426865" w="3255264">
                  <a:moveTo>
                    <a:pt x="0" y="0"/>
                  </a:moveTo>
                  <a:lnTo>
                    <a:pt x="3255264" y="0"/>
                  </a:lnTo>
                  <a:lnTo>
                    <a:pt x="3255264" y="1426865"/>
                  </a:lnTo>
                  <a:lnTo>
                    <a:pt x="0" y="1426865"/>
                  </a:lnTo>
                  <a:close/>
                </a:path>
              </a:pathLst>
            </a:custGeom>
            <a:blipFill>
              <a:blip r:embed="rId4">
                <a:alphaModFix amt="0"/>
              </a:blip>
              <a:stretch>
                <a:fillRect l="-4781" t="0" r="-4781" b="2591"/>
              </a:stretch>
            </a:blipFill>
          </p:spPr>
        </p:sp>
        <p:sp>
          <p:nvSpPr>
            <p:cNvPr name="TextBox 38" id="38"/>
            <p:cNvSpPr txBox="true"/>
            <p:nvPr/>
          </p:nvSpPr>
          <p:spPr>
            <a:xfrm>
              <a:off x="0" y="-38100"/>
              <a:ext cx="3255264" cy="1464965"/>
            </a:xfrm>
            <a:prstGeom prst="rect">
              <a:avLst/>
            </a:prstGeom>
          </p:spPr>
          <p:txBody>
            <a:bodyPr anchor="ctr" rtlCol="false" tIns="0" lIns="0" bIns="0" rIns="0"/>
            <a:lstStyle/>
            <a:p>
              <a:pPr algn="l">
                <a:lnSpc>
                  <a:spcPts val="1859"/>
                </a:lnSpc>
              </a:pPr>
              <a:r>
                <a:rPr lang="en-US" b="true" sz="1549" spc="516">
                  <a:solidFill>
                    <a:srgbClr val="5B6F6B"/>
                  </a:solidFill>
                  <a:latin typeface="Calibri (MS) Bold"/>
                  <a:ea typeface="Calibri (MS) Bold"/>
                  <a:cs typeface="Calibri (MS) Bold"/>
                  <a:sym typeface="Calibri (MS) Bold"/>
                </a:rPr>
                <a:t>TEAM</a:t>
              </a:r>
            </a:p>
            <a:p>
              <a:pPr algn="l">
                <a:lnSpc>
                  <a:spcPts val="2939"/>
                </a:lnSpc>
              </a:pPr>
              <a:r>
                <a:rPr lang="en-US" b="true" sz="2449" spc="816">
                  <a:solidFill>
                    <a:srgbClr val="026855"/>
                  </a:solidFill>
                  <a:latin typeface="Calibri (MS) Bold"/>
                  <a:ea typeface="Calibri (MS) Bold"/>
                  <a:cs typeface="Calibri (MS) Bold"/>
                  <a:sym typeface="Calibri (MS) Bold"/>
                </a:rPr>
                <a:t>INFINITE LOOPS</a:t>
              </a:r>
            </a:p>
          </p:txBody>
        </p:sp>
      </p:grpSp>
      <p:sp>
        <p:nvSpPr>
          <p:cNvPr name="TextBox 39" id="39"/>
          <p:cNvSpPr txBox="true"/>
          <p:nvPr/>
        </p:nvSpPr>
        <p:spPr>
          <a:xfrm rot="0">
            <a:off x="1755648" y="4815130"/>
            <a:ext cx="11334277" cy="1619250"/>
          </a:xfrm>
          <a:prstGeom prst="rect">
            <a:avLst/>
          </a:prstGeom>
        </p:spPr>
        <p:txBody>
          <a:bodyPr anchor="t" rtlCol="false" tIns="0" lIns="0" bIns="0" rIns="0">
            <a:spAutoFit/>
          </a:bodyPr>
          <a:lstStyle/>
          <a:p>
            <a:pPr algn="l">
              <a:lnSpc>
                <a:spcPts val="3120"/>
              </a:lnSpc>
            </a:pPr>
            <a:r>
              <a:rPr lang="en-US" b="true" sz="2600" spc="247" u="sng">
                <a:solidFill>
                  <a:srgbClr val="000000"/>
                </a:solidFill>
                <a:latin typeface="Calibri (MS) Bold"/>
                <a:ea typeface="Calibri (MS) Bold"/>
                <a:cs typeface="Calibri (MS) Bold"/>
                <a:sym typeface="Calibri (MS) Bold"/>
              </a:rPr>
              <a:t>Secondary stakeholders</a:t>
            </a:r>
          </a:p>
          <a:p>
            <a:pPr algn="l" marL="561341" indent="-280670" lvl="1">
              <a:lnSpc>
                <a:spcPts val="3120"/>
              </a:lnSpc>
              <a:buFont typeface="Arial"/>
              <a:buChar char="•"/>
            </a:pPr>
            <a:r>
              <a:rPr lang="en-US" sz="2600" spc="247">
                <a:solidFill>
                  <a:srgbClr val="000000"/>
                </a:solidFill>
                <a:latin typeface="Calibri (MS)"/>
                <a:ea typeface="Calibri (MS)"/>
                <a:cs typeface="Calibri (MS)"/>
                <a:sym typeface="Calibri (MS)"/>
              </a:rPr>
              <a:t>Production Managers</a:t>
            </a:r>
          </a:p>
          <a:p>
            <a:pPr algn="l" marL="561341" indent="-280670" lvl="1">
              <a:lnSpc>
                <a:spcPts val="3120"/>
              </a:lnSpc>
              <a:buFont typeface="Arial"/>
              <a:buChar char="•"/>
            </a:pPr>
            <a:r>
              <a:rPr lang="en-US" sz="2600" spc="247">
                <a:solidFill>
                  <a:srgbClr val="000000"/>
                </a:solidFill>
                <a:latin typeface="Calibri (MS)"/>
                <a:ea typeface="Calibri (MS)"/>
                <a:cs typeface="Calibri (MS)"/>
                <a:sym typeface="Calibri (MS)"/>
              </a:rPr>
              <a:t>Factory &amp; Operations Manager</a:t>
            </a:r>
          </a:p>
          <a:p>
            <a:pPr algn="l" marL="561341" indent="-280670" lvl="1">
              <a:lnSpc>
                <a:spcPts val="3120"/>
              </a:lnSpc>
              <a:spcBef>
                <a:spcPct val="0"/>
              </a:spcBef>
              <a:buFont typeface="Arial"/>
              <a:buChar char="•"/>
            </a:pPr>
            <a:r>
              <a:rPr lang="en-US" sz="2600" spc="247">
                <a:solidFill>
                  <a:srgbClr val="000000"/>
                </a:solidFill>
                <a:latin typeface="Calibri (MS)"/>
                <a:ea typeface="Calibri (MS)"/>
                <a:cs typeface="Calibri (MS)"/>
                <a:sym typeface="Calibri (MS)"/>
              </a:rPr>
              <a:t>Factory Owners or Management</a:t>
            </a:r>
          </a:p>
        </p:txBody>
      </p:sp>
      <p:sp>
        <p:nvSpPr>
          <p:cNvPr name="TextBox 40" id="40"/>
          <p:cNvSpPr txBox="true"/>
          <p:nvPr/>
        </p:nvSpPr>
        <p:spPr>
          <a:xfrm rot="0">
            <a:off x="1755648" y="6533774"/>
            <a:ext cx="16326150" cy="2790825"/>
          </a:xfrm>
          <a:prstGeom prst="rect">
            <a:avLst/>
          </a:prstGeom>
        </p:spPr>
        <p:txBody>
          <a:bodyPr anchor="t" rtlCol="false" tIns="0" lIns="0" bIns="0" rIns="0">
            <a:spAutoFit/>
          </a:bodyPr>
          <a:lstStyle/>
          <a:p>
            <a:pPr algn="l">
              <a:lnSpc>
                <a:spcPts val="3119"/>
              </a:lnSpc>
            </a:pPr>
            <a:r>
              <a:rPr lang="en-US" b="true" sz="2599" spc="246" u="sng">
                <a:solidFill>
                  <a:srgbClr val="000000"/>
                </a:solidFill>
                <a:latin typeface="Calibri (MS) Bold"/>
                <a:ea typeface="Calibri (MS) Bold"/>
                <a:cs typeface="Calibri (MS) Bold"/>
                <a:sym typeface="Calibri (MS) Bold"/>
              </a:rPr>
              <a:t>Who benefits if the problem is solved?</a:t>
            </a:r>
          </a:p>
          <a:p>
            <a:pPr algn="l" marL="561339" indent="-280669" lvl="1">
              <a:lnSpc>
                <a:spcPts val="3119"/>
              </a:lnSpc>
              <a:spcBef>
                <a:spcPct val="0"/>
              </a:spcBef>
              <a:buFont typeface="Arial"/>
              <a:buChar char="•"/>
            </a:pPr>
            <a:r>
              <a:rPr lang="en-US" sz="2599" spc="247">
                <a:solidFill>
                  <a:srgbClr val="000000"/>
                </a:solidFill>
                <a:latin typeface="Calibri (MS)"/>
                <a:ea typeface="Calibri (MS)"/>
                <a:cs typeface="Calibri (MS)"/>
                <a:sym typeface="Calibri (MS)"/>
              </a:rPr>
              <a:t>Maintenance technicians and engineers can identify machine faults faster and reduce the time spent searching manuals and maintenance records. Production managers can benefit from reduced downtime and fewer production delays, while factory owners and company management can save operating costs, improve productivity, and potentially increase company profits and sales. Factory workers can work more efficiently, while customers can receive their products on time.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5400000">
            <a:off x="15903559" y="7017544"/>
            <a:ext cx="2161927" cy="1875473"/>
            <a:chOff x="0" y="0"/>
            <a:chExt cx="2882570" cy="2500630"/>
          </a:xfrm>
        </p:grpSpPr>
        <p:sp>
          <p:nvSpPr>
            <p:cNvPr name="Freeform 11" id="11"/>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2" id="12"/>
          <p:cNvGrpSpPr/>
          <p:nvPr/>
        </p:nvGrpSpPr>
        <p:grpSpPr>
          <a:xfrm rot="5400000">
            <a:off x="14613988" y="8011954"/>
            <a:ext cx="1449219" cy="1258252"/>
            <a:chOff x="0" y="0"/>
            <a:chExt cx="1932292" cy="1677670"/>
          </a:xfrm>
        </p:grpSpPr>
        <p:sp>
          <p:nvSpPr>
            <p:cNvPr name="Freeform 13" id="13"/>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4" id="14"/>
          <p:cNvGrpSpPr/>
          <p:nvPr/>
        </p:nvGrpSpPr>
        <p:grpSpPr>
          <a:xfrm rot="5400000">
            <a:off x="17357188" y="5748814"/>
            <a:ext cx="1449219" cy="1258252"/>
            <a:chOff x="0" y="0"/>
            <a:chExt cx="1932292" cy="1677670"/>
          </a:xfrm>
        </p:grpSpPr>
        <p:sp>
          <p:nvSpPr>
            <p:cNvPr name="Freeform 15" id="15"/>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6" id="16"/>
          <p:cNvGrpSpPr/>
          <p:nvPr/>
        </p:nvGrpSpPr>
        <p:grpSpPr>
          <a:xfrm rot="0">
            <a:off x="4720604" y="480060"/>
            <a:ext cx="11247120" cy="1234440"/>
            <a:chOff x="0" y="0"/>
            <a:chExt cx="14996160" cy="1645920"/>
          </a:xfrm>
        </p:grpSpPr>
        <p:sp>
          <p:nvSpPr>
            <p:cNvPr name="Freeform 17" id="17"/>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8" id="18"/>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CURRENT SITUATION &amp; CONTEXT</a:t>
              </a:r>
            </a:p>
          </p:txBody>
        </p:sp>
      </p:grpSp>
      <p:grpSp>
        <p:nvGrpSpPr>
          <p:cNvPr name="Group 19" id="19"/>
          <p:cNvGrpSpPr/>
          <p:nvPr/>
        </p:nvGrpSpPr>
        <p:grpSpPr>
          <a:xfrm rot="0">
            <a:off x="678656" y="472916"/>
            <a:ext cx="3923347" cy="1248727"/>
            <a:chOff x="0" y="0"/>
            <a:chExt cx="5231130" cy="1664970"/>
          </a:xfrm>
        </p:grpSpPr>
        <p:sp>
          <p:nvSpPr>
            <p:cNvPr name="Freeform 20" id="20"/>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1" id="21"/>
          <p:cNvGrpSpPr/>
          <p:nvPr/>
        </p:nvGrpSpPr>
        <p:grpSpPr>
          <a:xfrm rot="0">
            <a:off x="898112" y="678656"/>
            <a:ext cx="960692" cy="837248"/>
            <a:chOff x="0" y="0"/>
            <a:chExt cx="1280922" cy="1116330"/>
          </a:xfrm>
        </p:grpSpPr>
        <p:sp>
          <p:nvSpPr>
            <p:cNvPr name="Freeform 22" id="22"/>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3" id="23"/>
          <p:cNvGrpSpPr/>
          <p:nvPr/>
        </p:nvGrpSpPr>
        <p:grpSpPr>
          <a:xfrm rot="0">
            <a:off x="1104138" y="822960"/>
            <a:ext cx="548640" cy="548640"/>
            <a:chOff x="0" y="0"/>
            <a:chExt cx="731520" cy="731520"/>
          </a:xfrm>
        </p:grpSpPr>
        <p:sp>
          <p:nvSpPr>
            <p:cNvPr name="Freeform 24" id="24"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5" id="25"/>
          <p:cNvGrpSpPr/>
          <p:nvPr/>
        </p:nvGrpSpPr>
        <p:grpSpPr>
          <a:xfrm rot="0">
            <a:off x="678656" y="1829029"/>
            <a:ext cx="685800" cy="593903"/>
            <a:chOff x="0" y="0"/>
            <a:chExt cx="914400" cy="791870"/>
          </a:xfrm>
        </p:grpSpPr>
        <p:sp>
          <p:nvSpPr>
            <p:cNvPr name="Freeform 26" id="26"/>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27" id="27"/>
          <p:cNvGrpSpPr/>
          <p:nvPr/>
        </p:nvGrpSpPr>
        <p:grpSpPr>
          <a:xfrm rot="0">
            <a:off x="815816" y="1919554"/>
            <a:ext cx="411480" cy="411480"/>
            <a:chOff x="0" y="0"/>
            <a:chExt cx="548640" cy="548640"/>
          </a:xfrm>
        </p:grpSpPr>
        <p:sp>
          <p:nvSpPr>
            <p:cNvPr name="Freeform 28" id="28"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29" id="29"/>
          <p:cNvGrpSpPr/>
          <p:nvPr/>
        </p:nvGrpSpPr>
        <p:grpSpPr>
          <a:xfrm rot="0">
            <a:off x="1378458" y="1787604"/>
            <a:ext cx="14401800" cy="754380"/>
            <a:chOff x="0" y="0"/>
            <a:chExt cx="19202400" cy="1005840"/>
          </a:xfrm>
        </p:grpSpPr>
        <p:sp>
          <p:nvSpPr>
            <p:cNvPr name="Freeform 30" id="30"/>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1" id="31"/>
            <p:cNvSpPr txBox="true"/>
            <p:nvPr/>
          </p:nvSpPr>
          <p:spPr>
            <a:xfrm>
              <a:off x="0" y="-57150"/>
              <a:ext cx="19202400" cy="1062990"/>
            </a:xfrm>
            <a:prstGeom prst="rect">
              <a:avLst/>
            </a:prstGeom>
          </p:spPr>
          <p:txBody>
            <a:bodyPr anchor="ctr" rtlCol="false" tIns="0" lIns="0" bIns="0" rIns="0"/>
            <a:lstStyle/>
            <a:p>
              <a:pPr algn="l">
                <a:lnSpc>
                  <a:spcPts val="3480"/>
                </a:lnSpc>
              </a:pPr>
              <a:r>
                <a:rPr lang="en-US" b="true" sz="2900" u="sng">
                  <a:solidFill>
                    <a:srgbClr val="000000"/>
                  </a:solidFill>
                  <a:latin typeface="Calibri (MS) Bold"/>
                  <a:ea typeface="Calibri (MS) Bold"/>
                  <a:cs typeface="Calibri (MS) Bold"/>
                  <a:sym typeface="Calibri (MS) Bold"/>
                </a:rPr>
                <a:t>Existing scenario, background and how things work today</a:t>
              </a:r>
            </a:p>
          </p:txBody>
        </p:sp>
      </p:grpSp>
      <p:grpSp>
        <p:nvGrpSpPr>
          <p:cNvPr name="Group 32" id="32"/>
          <p:cNvGrpSpPr/>
          <p:nvPr/>
        </p:nvGrpSpPr>
        <p:grpSpPr>
          <a:xfrm rot="0">
            <a:off x="16888511" y="9614916"/>
            <a:ext cx="685800" cy="593903"/>
            <a:chOff x="0" y="0"/>
            <a:chExt cx="914400" cy="791870"/>
          </a:xfrm>
        </p:grpSpPr>
        <p:sp>
          <p:nvSpPr>
            <p:cNvPr name="Freeform 33" id="33"/>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34" id="34"/>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4</a:t>
              </a:r>
            </a:p>
          </p:txBody>
        </p:sp>
      </p:grpSp>
      <p:grpSp>
        <p:nvGrpSpPr>
          <p:cNvPr name="Group 35" id="35"/>
          <p:cNvGrpSpPr/>
          <p:nvPr/>
        </p:nvGrpSpPr>
        <p:grpSpPr>
          <a:xfrm rot="0">
            <a:off x="2057400" y="576072"/>
            <a:ext cx="2441448" cy="1070148"/>
            <a:chOff x="0" y="0"/>
            <a:chExt cx="3255264" cy="1426865"/>
          </a:xfrm>
        </p:grpSpPr>
        <p:sp>
          <p:nvSpPr>
            <p:cNvPr name="Freeform 36" id="36"/>
            <p:cNvSpPr/>
            <p:nvPr/>
          </p:nvSpPr>
          <p:spPr>
            <a:xfrm flipH="false" flipV="false" rot="0">
              <a:off x="0" y="0"/>
              <a:ext cx="3255264" cy="1426865"/>
            </a:xfrm>
            <a:custGeom>
              <a:avLst/>
              <a:gdLst/>
              <a:ahLst/>
              <a:cxnLst/>
              <a:rect r="r" b="b" t="t" l="l"/>
              <a:pathLst>
                <a:path h="1426865" w="3255264">
                  <a:moveTo>
                    <a:pt x="0" y="0"/>
                  </a:moveTo>
                  <a:lnTo>
                    <a:pt x="3255264" y="0"/>
                  </a:lnTo>
                  <a:lnTo>
                    <a:pt x="3255264" y="1426865"/>
                  </a:lnTo>
                  <a:lnTo>
                    <a:pt x="0" y="1426865"/>
                  </a:lnTo>
                  <a:close/>
                </a:path>
              </a:pathLst>
            </a:custGeom>
            <a:blipFill>
              <a:blip r:embed="rId4">
                <a:alphaModFix amt="0"/>
              </a:blip>
              <a:stretch>
                <a:fillRect l="-4781" t="0" r="-4781" b="2591"/>
              </a:stretch>
            </a:blipFill>
          </p:spPr>
        </p:sp>
        <p:sp>
          <p:nvSpPr>
            <p:cNvPr name="TextBox 37" id="37"/>
            <p:cNvSpPr txBox="true"/>
            <p:nvPr/>
          </p:nvSpPr>
          <p:spPr>
            <a:xfrm>
              <a:off x="0" y="-38100"/>
              <a:ext cx="3255264" cy="1464965"/>
            </a:xfrm>
            <a:prstGeom prst="rect">
              <a:avLst/>
            </a:prstGeom>
          </p:spPr>
          <p:txBody>
            <a:bodyPr anchor="ctr" rtlCol="false" tIns="0" lIns="0" bIns="0" rIns="0"/>
            <a:lstStyle/>
            <a:p>
              <a:pPr algn="l">
                <a:lnSpc>
                  <a:spcPts val="1859"/>
                </a:lnSpc>
              </a:pPr>
              <a:r>
                <a:rPr lang="en-US" b="true" sz="1549" spc="516">
                  <a:solidFill>
                    <a:srgbClr val="5B6F6B"/>
                  </a:solidFill>
                  <a:latin typeface="Calibri (MS) Bold"/>
                  <a:ea typeface="Calibri (MS) Bold"/>
                  <a:cs typeface="Calibri (MS) Bold"/>
                  <a:sym typeface="Calibri (MS) Bold"/>
                </a:rPr>
                <a:t>TEAM</a:t>
              </a:r>
            </a:p>
            <a:p>
              <a:pPr algn="l">
                <a:lnSpc>
                  <a:spcPts val="2939"/>
                </a:lnSpc>
              </a:pPr>
              <a:r>
                <a:rPr lang="en-US" b="true" sz="2449" spc="816">
                  <a:solidFill>
                    <a:srgbClr val="026855"/>
                  </a:solidFill>
                  <a:latin typeface="Calibri (MS) Bold"/>
                  <a:ea typeface="Calibri (MS) Bold"/>
                  <a:cs typeface="Calibri (MS) Bold"/>
                  <a:sym typeface="Calibri (MS) Bold"/>
                </a:rPr>
                <a:t>INFINITE LOOPS</a:t>
              </a:r>
            </a:p>
          </p:txBody>
        </p:sp>
      </p:grpSp>
      <p:sp>
        <p:nvSpPr>
          <p:cNvPr name="TextBox 38" id="38"/>
          <p:cNvSpPr txBox="true"/>
          <p:nvPr/>
        </p:nvSpPr>
        <p:spPr>
          <a:xfrm rot="0">
            <a:off x="1622348" y="2384831"/>
            <a:ext cx="16299911" cy="1733550"/>
          </a:xfrm>
          <a:prstGeom prst="rect">
            <a:avLst/>
          </a:prstGeom>
        </p:spPr>
        <p:txBody>
          <a:bodyPr anchor="t" rtlCol="false" tIns="0" lIns="0" bIns="0" rIns="0">
            <a:spAutoFit/>
          </a:bodyPr>
          <a:lstStyle/>
          <a:p>
            <a:pPr algn="just">
              <a:lnSpc>
                <a:spcPts val="2879"/>
              </a:lnSpc>
              <a:spcBef>
                <a:spcPct val="0"/>
              </a:spcBef>
            </a:pPr>
            <a:r>
              <a:rPr lang="en-US" b="true" sz="2400" spc="228" u="sng">
                <a:solidFill>
                  <a:srgbClr val="000000"/>
                </a:solidFill>
                <a:latin typeface="Calibri (MS) Bold"/>
                <a:ea typeface="Calibri (MS) Bold"/>
                <a:cs typeface="Calibri (MS) Bold"/>
                <a:sym typeface="Calibri (MS) Bold"/>
              </a:rPr>
              <a:t>Existing scena</a:t>
            </a:r>
            <a:r>
              <a:rPr lang="en-US" b="true" sz="2400" spc="228" u="sng">
                <a:solidFill>
                  <a:srgbClr val="000000"/>
                </a:solidFill>
                <a:latin typeface="Calibri (MS) Bold"/>
                <a:ea typeface="Calibri (MS) Bold"/>
                <a:cs typeface="Calibri (MS) Bold"/>
                <a:sym typeface="Calibri (MS) Bold"/>
              </a:rPr>
              <a:t>rio and background:</a:t>
            </a:r>
          </a:p>
          <a:p>
            <a:pPr algn="l" marL="474981" indent="-237491" lvl="1">
              <a:lnSpc>
                <a:spcPts val="2640"/>
              </a:lnSpc>
              <a:spcBef>
                <a:spcPct val="0"/>
              </a:spcBef>
              <a:buFont typeface="Arial"/>
              <a:buChar char="•"/>
            </a:pPr>
            <a:r>
              <a:rPr lang="en-US" sz="2200" spc="209">
                <a:solidFill>
                  <a:srgbClr val="000000"/>
                </a:solidFill>
                <a:latin typeface="Calibri (MS)"/>
                <a:ea typeface="Calibri (MS)"/>
                <a:cs typeface="Calibri (MS)"/>
                <a:sym typeface="Calibri (MS)"/>
              </a:rPr>
              <a:t>Automated factories use sensors to monitor machines and detect faults. When a machine breaks down, multiple alarms may appear simultaneously, making it difficult to identify the actual cause. Technicians must manually check sensor data, equipment manuals, and previous maintenance records, which are often stored separately. This time-consuming process can delay repairs, interrupt production, and increase operating costs.</a:t>
            </a:r>
          </a:p>
        </p:txBody>
      </p:sp>
      <p:sp>
        <p:nvSpPr>
          <p:cNvPr name="TextBox 39" id="39"/>
          <p:cNvSpPr txBox="true"/>
          <p:nvPr/>
        </p:nvSpPr>
        <p:spPr>
          <a:xfrm rot="0">
            <a:off x="1622348" y="4204106"/>
            <a:ext cx="16459450" cy="5219700"/>
          </a:xfrm>
          <a:prstGeom prst="rect">
            <a:avLst/>
          </a:prstGeom>
        </p:spPr>
        <p:txBody>
          <a:bodyPr anchor="t" rtlCol="false" tIns="0" lIns="0" bIns="0" rIns="0">
            <a:spAutoFit/>
          </a:bodyPr>
          <a:lstStyle/>
          <a:p>
            <a:pPr algn="l">
              <a:lnSpc>
                <a:spcPts val="2879"/>
              </a:lnSpc>
              <a:spcBef>
                <a:spcPct val="0"/>
              </a:spcBef>
            </a:pPr>
            <a:r>
              <a:rPr lang="en-US" b="true" sz="2399" spc="227">
                <a:solidFill>
                  <a:srgbClr val="000000"/>
                </a:solidFill>
                <a:latin typeface="Calibri (MS) Bold"/>
                <a:ea typeface="Calibri (MS) Bold"/>
                <a:cs typeface="Calibri (MS) Bold"/>
                <a:sym typeface="Calibri (MS) Bold"/>
              </a:rPr>
              <a:t>C</a:t>
            </a:r>
            <a:r>
              <a:rPr lang="en-US" b="true" sz="2399" spc="227">
                <a:solidFill>
                  <a:srgbClr val="000000"/>
                </a:solidFill>
                <a:latin typeface="Calibri (MS) Bold"/>
                <a:ea typeface="Calibri (MS) Bold"/>
                <a:cs typeface="Calibri (MS) Bold"/>
                <a:sym typeface="Calibri (MS) Bold"/>
              </a:rPr>
              <a:t>urrent Workflow (Step by Step):</a:t>
            </a:r>
          </a:p>
          <a:p>
            <a:pPr algn="l" marL="496569" indent="-248284" lvl="1">
              <a:lnSpc>
                <a:spcPts val="2759"/>
              </a:lnSpc>
              <a:spcBef>
                <a:spcPct val="0"/>
              </a:spcBef>
              <a:buFont typeface="Arial"/>
              <a:buChar char="•"/>
            </a:pPr>
            <a:r>
              <a:rPr lang="en-US" b="true" sz="2299" spc="218">
                <a:solidFill>
                  <a:srgbClr val="000000"/>
                </a:solidFill>
                <a:latin typeface="Calibri (MS) Bold"/>
                <a:ea typeface="Calibri (MS) Bold"/>
                <a:cs typeface="Calibri (MS) Bold"/>
                <a:sym typeface="Calibri (MS) Bold"/>
              </a:rPr>
              <a:t>Step 1 – Machine Failure Detection:</a:t>
            </a:r>
            <a:r>
              <a:rPr lang="en-US" sz="2299" spc="218">
                <a:solidFill>
                  <a:srgbClr val="000000"/>
                </a:solidFill>
                <a:latin typeface="Calibri (MS)"/>
                <a:ea typeface="Calibri (MS)"/>
                <a:cs typeface="Calibri (MS)"/>
                <a:sym typeface="Calibri (MS)"/>
              </a:rPr>
              <a:t> A machine experiences a mechanical, electrical, or sensor-related fault, causing abnormal operation or an unexpected shutdown of the production line.</a:t>
            </a:r>
          </a:p>
          <a:p>
            <a:pPr algn="l" marL="496569" indent="-248284" lvl="1">
              <a:lnSpc>
                <a:spcPts val="2759"/>
              </a:lnSpc>
              <a:spcBef>
                <a:spcPct val="0"/>
              </a:spcBef>
              <a:buFont typeface="Arial"/>
              <a:buChar char="•"/>
            </a:pPr>
            <a:r>
              <a:rPr lang="en-US" b="true" sz="2299" spc="218">
                <a:solidFill>
                  <a:srgbClr val="000000"/>
                </a:solidFill>
                <a:latin typeface="Calibri (MS) Bold"/>
                <a:ea typeface="Calibri (MS) Bold"/>
                <a:cs typeface="Calibri (MS) Bold"/>
                <a:sym typeface="Calibri (MS) Bold"/>
              </a:rPr>
              <a:t>Step 2 – Multiple Alarm Generation: </a:t>
            </a:r>
            <a:r>
              <a:rPr lang="en-US" sz="2299" spc="218">
                <a:solidFill>
                  <a:srgbClr val="000000"/>
                </a:solidFill>
                <a:latin typeface="Calibri (MS)"/>
                <a:ea typeface="Calibri (MS)"/>
                <a:cs typeface="Calibri (MS)"/>
                <a:sym typeface="Calibri (MS)"/>
              </a:rPr>
              <a:t>The machine's monitoring system generates several alarms and error messages, making it difficult to distinguish the main fault from the symptoms it triggers.</a:t>
            </a:r>
          </a:p>
          <a:p>
            <a:pPr algn="l" marL="496569" indent="-248284" lvl="1">
              <a:lnSpc>
                <a:spcPts val="2759"/>
              </a:lnSpc>
              <a:spcBef>
                <a:spcPct val="0"/>
              </a:spcBef>
              <a:buFont typeface="Arial"/>
              <a:buChar char="•"/>
            </a:pPr>
            <a:r>
              <a:rPr lang="en-US" b="true" sz="2299" spc="218">
                <a:solidFill>
                  <a:srgbClr val="000000"/>
                </a:solidFill>
                <a:latin typeface="Calibri (MS) Bold"/>
                <a:ea typeface="Calibri (MS) Bold"/>
                <a:cs typeface="Calibri (MS) Bold"/>
                <a:sym typeface="Calibri (MS) Bold"/>
              </a:rPr>
              <a:t>Step 3 – Initial Fault Inspection: </a:t>
            </a:r>
            <a:r>
              <a:rPr lang="en-US" sz="2299" spc="218">
                <a:solidFill>
                  <a:srgbClr val="000000"/>
                </a:solidFill>
                <a:latin typeface="Calibri (MS)"/>
                <a:ea typeface="Calibri (MS)"/>
                <a:cs typeface="Calibri (MS)"/>
                <a:sym typeface="Calibri (MS)"/>
              </a:rPr>
              <a:t>Maintenance technicians examine the machine's condition, review the alarm messages, and check sensor readings to understand what has gone wrong.</a:t>
            </a:r>
          </a:p>
          <a:p>
            <a:pPr algn="l" marL="496569" indent="-248284" lvl="1">
              <a:lnSpc>
                <a:spcPts val="2759"/>
              </a:lnSpc>
              <a:spcBef>
                <a:spcPct val="0"/>
              </a:spcBef>
              <a:buFont typeface="Arial"/>
              <a:buChar char="•"/>
            </a:pPr>
            <a:r>
              <a:rPr lang="en-US" b="true" sz="2299" spc="218">
                <a:solidFill>
                  <a:srgbClr val="000000"/>
                </a:solidFill>
                <a:latin typeface="Calibri (MS) Bold"/>
                <a:ea typeface="Calibri (MS) Bold"/>
                <a:cs typeface="Calibri (MS) Bold"/>
                <a:sym typeface="Calibri (MS) Bold"/>
              </a:rPr>
              <a:t>Step 4 – Manual Information Gathering:</a:t>
            </a:r>
            <a:r>
              <a:rPr lang="en-US" sz="2299" spc="218">
                <a:solidFill>
                  <a:srgbClr val="000000"/>
                </a:solidFill>
                <a:latin typeface="Calibri (MS)"/>
                <a:ea typeface="Calibri (MS)"/>
                <a:cs typeface="Calibri (MS)"/>
                <a:sym typeface="Calibri (MS)"/>
              </a:rPr>
              <a:t> Technicians search through equipment manuals, technical documents, sensor logs, and previous maintenance records, often accessing each source separately.</a:t>
            </a:r>
          </a:p>
          <a:p>
            <a:pPr algn="l" marL="496569" indent="-248284" lvl="1">
              <a:lnSpc>
                <a:spcPts val="2759"/>
              </a:lnSpc>
              <a:spcBef>
                <a:spcPct val="0"/>
              </a:spcBef>
              <a:buFont typeface="Arial"/>
              <a:buChar char="•"/>
            </a:pPr>
            <a:r>
              <a:rPr lang="en-US" b="true" sz="2299" spc="218">
                <a:solidFill>
                  <a:srgbClr val="000000"/>
                </a:solidFill>
                <a:latin typeface="Calibri (MS) Bold"/>
                <a:ea typeface="Calibri (MS) Bold"/>
                <a:cs typeface="Calibri (MS) Bold"/>
                <a:sym typeface="Calibri (MS) Bold"/>
              </a:rPr>
              <a:t>Step 5 – Root-Cause Investigation:</a:t>
            </a:r>
            <a:r>
              <a:rPr lang="en-US" sz="2299" spc="218">
                <a:solidFill>
                  <a:srgbClr val="000000"/>
                </a:solidFill>
                <a:latin typeface="Calibri (MS)"/>
                <a:ea typeface="Calibri (MS)"/>
                <a:cs typeface="Calibri (MS)"/>
                <a:sym typeface="Calibri (MS)"/>
              </a:rPr>
              <a:t> Technicians compare the collected information, connect related alarms, and use their experience to determine the most likely underlying cause of the breakdown.</a:t>
            </a:r>
          </a:p>
          <a:p>
            <a:pPr algn="l" marL="496569" indent="-248284" lvl="1">
              <a:lnSpc>
                <a:spcPts val="2759"/>
              </a:lnSpc>
              <a:spcBef>
                <a:spcPct val="0"/>
              </a:spcBef>
              <a:buFont typeface="Arial"/>
              <a:buChar char="•"/>
            </a:pPr>
            <a:r>
              <a:rPr lang="en-US" b="true" sz="2299" spc="218">
                <a:solidFill>
                  <a:srgbClr val="000000"/>
                </a:solidFill>
                <a:latin typeface="Calibri (MS) Bold"/>
                <a:ea typeface="Calibri (MS) Bold"/>
                <a:cs typeface="Calibri (MS) Bold"/>
                <a:sym typeface="Calibri (MS) Bold"/>
              </a:rPr>
              <a:t>Step 6 – Fault Repair and Verification:</a:t>
            </a:r>
            <a:r>
              <a:rPr lang="en-US" sz="2299" spc="218">
                <a:solidFill>
                  <a:srgbClr val="000000"/>
                </a:solidFill>
                <a:latin typeface="Calibri (MS)"/>
                <a:ea typeface="Calibri (MS)"/>
                <a:cs typeface="Calibri (MS)"/>
                <a:sym typeface="Calibri (MS)"/>
              </a:rPr>
              <a:t> Once the cause is identified, technicians repair or replace the faulty component and test the machine to verify that it is operating safely and correctly.</a:t>
            </a:r>
          </a:p>
          <a:p>
            <a:pPr algn="l" marL="496569" indent="-248284" lvl="1">
              <a:lnSpc>
                <a:spcPts val="2759"/>
              </a:lnSpc>
              <a:spcBef>
                <a:spcPct val="0"/>
              </a:spcBef>
              <a:buFont typeface="Arial"/>
              <a:buChar char="•"/>
            </a:pPr>
            <a:r>
              <a:rPr lang="en-US" b="true" sz="2299" spc="219">
                <a:solidFill>
                  <a:srgbClr val="000000"/>
                </a:solidFill>
                <a:latin typeface="Calibri (MS) Bold"/>
                <a:ea typeface="Calibri (MS) Bold"/>
                <a:cs typeface="Calibri (MS) Bold"/>
                <a:sym typeface="Calibri (MS) Bold"/>
              </a:rPr>
              <a:t>Step 7 – Production Restart and Impact:</a:t>
            </a:r>
            <a:r>
              <a:rPr lang="en-US" sz="2299" spc="219">
                <a:solidFill>
                  <a:srgbClr val="000000"/>
                </a:solidFill>
                <a:latin typeface="Calibri (MS)"/>
                <a:ea typeface="Calibri (MS)"/>
                <a:cs typeface="Calibri (MS)"/>
                <a:sym typeface="Calibri (MS)"/>
              </a:rPr>
              <a:t> The machine is returned to operation, but prolonged investigation and repair may result in production delays, increased operating costs, and missed delivery deadlines.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5400000">
            <a:off x="15903559" y="7017544"/>
            <a:ext cx="2161927" cy="1875473"/>
            <a:chOff x="0" y="0"/>
            <a:chExt cx="2882570" cy="2500630"/>
          </a:xfrm>
        </p:grpSpPr>
        <p:sp>
          <p:nvSpPr>
            <p:cNvPr name="Freeform 11" id="11"/>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2" id="12"/>
          <p:cNvGrpSpPr/>
          <p:nvPr/>
        </p:nvGrpSpPr>
        <p:grpSpPr>
          <a:xfrm rot="5400000">
            <a:off x="14613988" y="8011954"/>
            <a:ext cx="1449219" cy="1258252"/>
            <a:chOff x="0" y="0"/>
            <a:chExt cx="1932292" cy="1677670"/>
          </a:xfrm>
        </p:grpSpPr>
        <p:sp>
          <p:nvSpPr>
            <p:cNvPr name="Freeform 13" id="13"/>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4" id="14"/>
          <p:cNvGrpSpPr/>
          <p:nvPr/>
        </p:nvGrpSpPr>
        <p:grpSpPr>
          <a:xfrm rot="5400000">
            <a:off x="17357188" y="5748814"/>
            <a:ext cx="1449219" cy="1258252"/>
            <a:chOff x="0" y="0"/>
            <a:chExt cx="1932292" cy="1677670"/>
          </a:xfrm>
        </p:grpSpPr>
        <p:sp>
          <p:nvSpPr>
            <p:cNvPr name="Freeform 15" id="15"/>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6" id="16"/>
          <p:cNvGrpSpPr/>
          <p:nvPr/>
        </p:nvGrpSpPr>
        <p:grpSpPr>
          <a:xfrm rot="0">
            <a:off x="4303094" y="472916"/>
            <a:ext cx="11247120" cy="1234440"/>
            <a:chOff x="0" y="0"/>
            <a:chExt cx="14996160" cy="1645920"/>
          </a:xfrm>
        </p:grpSpPr>
        <p:sp>
          <p:nvSpPr>
            <p:cNvPr name="Freeform 17" id="17"/>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8" id="18"/>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KEY CHALLENGES</a:t>
              </a:r>
            </a:p>
          </p:txBody>
        </p:sp>
      </p:grpSp>
      <p:grpSp>
        <p:nvGrpSpPr>
          <p:cNvPr name="Group 19" id="19"/>
          <p:cNvGrpSpPr/>
          <p:nvPr/>
        </p:nvGrpSpPr>
        <p:grpSpPr>
          <a:xfrm rot="0">
            <a:off x="678656" y="472916"/>
            <a:ext cx="3923347" cy="1248727"/>
            <a:chOff x="0" y="0"/>
            <a:chExt cx="5231130" cy="1664970"/>
          </a:xfrm>
        </p:grpSpPr>
        <p:sp>
          <p:nvSpPr>
            <p:cNvPr name="Freeform 20" id="20"/>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1" id="21"/>
          <p:cNvGrpSpPr/>
          <p:nvPr/>
        </p:nvGrpSpPr>
        <p:grpSpPr>
          <a:xfrm rot="0">
            <a:off x="898112" y="678656"/>
            <a:ext cx="960692" cy="837248"/>
            <a:chOff x="0" y="0"/>
            <a:chExt cx="1280922" cy="1116330"/>
          </a:xfrm>
        </p:grpSpPr>
        <p:sp>
          <p:nvSpPr>
            <p:cNvPr name="Freeform 22" id="22"/>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3" id="23"/>
          <p:cNvGrpSpPr/>
          <p:nvPr/>
        </p:nvGrpSpPr>
        <p:grpSpPr>
          <a:xfrm rot="0">
            <a:off x="1104138" y="822960"/>
            <a:ext cx="548640" cy="548640"/>
            <a:chOff x="0" y="0"/>
            <a:chExt cx="731520" cy="731520"/>
          </a:xfrm>
        </p:grpSpPr>
        <p:sp>
          <p:nvSpPr>
            <p:cNvPr name="Freeform 24" id="24"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5" id="25"/>
          <p:cNvGrpSpPr/>
          <p:nvPr/>
        </p:nvGrpSpPr>
        <p:grpSpPr>
          <a:xfrm rot="0">
            <a:off x="822960" y="2194560"/>
            <a:ext cx="685800" cy="593903"/>
            <a:chOff x="0" y="0"/>
            <a:chExt cx="914400" cy="791870"/>
          </a:xfrm>
        </p:grpSpPr>
        <p:sp>
          <p:nvSpPr>
            <p:cNvPr name="Freeform 26" id="26"/>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27" id="27"/>
          <p:cNvGrpSpPr/>
          <p:nvPr/>
        </p:nvGrpSpPr>
        <p:grpSpPr>
          <a:xfrm rot="0">
            <a:off x="960120" y="2285086"/>
            <a:ext cx="411480" cy="411480"/>
            <a:chOff x="0" y="0"/>
            <a:chExt cx="548640" cy="548640"/>
          </a:xfrm>
        </p:grpSpPr>
        <p:sp>
          <p:nvSpPr>
            <p:cNvPr name="Freeform 28" id="28"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29" id="29"/>
          <p:cNvGrpSpPr/>
          <p:nvPr/>
        </p:nvGrpSpPr>
        <p:grpSpPr>
          <a:xfrm rot="0">
            <a:off x="1755648" y="2125980"/>
            <a:ext cx="14401800" cy="754380"/>
            <a:chOff x="0" y="0"/>
            <a:chExt cx="19202400" cy="1005840"/>
          </a:xfrm>
        </p:grpSpPr>
        <p:sp>
          <p:nvSpPr>
            <p:cNvPr name="Freeform 30" id="30"/>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1" id="31"/>
            <p:cNvSpPr txBox="true"/>
            <p:nvPr/>
          </p:nvSpPr>
          <p:spPr>
            <a:xfrm>
              <a:off x="0" y="-57150"/>
              <a:ext cx="19202400" cy="1062990"/>
            </a:xfrm>
            <a:prstGeom prst="rect">
              <a:avLst/>
            </a:prstGeom>
          </p:spPr>
          <p:txBody>
            <a:bodyPr anchor="ctr" rtlCol="false" tIns="0" lIns="0" bIns="0" rIns="0"/>
            <a:lstStyle/>
            <a:p>
              <a:pPr algn="l">
                <a:lnSpc>
                  <a:spcPts val="3599"/>
                </a:lnSpc>
              </a:pPr>
              <a:r>
                <a:rPr lang="en-US" b="true" sz="2999" u="sng">
                  <a:solidFill>
                    <a:srgbClr val="000000"/>
                  </a:solidFill>
                  <a:latin typeface="Calibri (MS) Bold"/>
                  <a:ea typeface="Calibri (MS) Bold"/>
                  <a:cs typeface="Calibri (MS) Bold"/>
                  <a:sym typeface="Calibri (MS) Bold"/>
                </a:rPr>
                <a:t>Main difficulties, bottlenecks, root causes and consequences</a:t>
              </a:r>
            </a:p>
          </p:txBody>
        </p:sp>
      </p:grpSp>
      <p:grpSp>
        <p:nvGrpSpPr>
          <p:cNvPr name="Group 32" id="32"/>
          <p:cNvGrpSpPr/>
          <p:nvPr/>
        </p:nvGrpSpPr>
        <p:grpSpPr>
          <a:xfrm rot="0">
            <a:off x="16888511" y="9614916"/>
            <a:ext cx="685800" cy="593903"/>
            <a:chOff x="0" y="0"/>
            <a:chExt cx="914400" cy="791870"/>
          </a:xfrm>
        </p:grpSpPr>
        <p:sp>
          <p:nvSpPr>
            <p:cNvPr name="Freeform 33" id="33"/>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34" id="34"/>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5</a:t>
              </a:r>
            </a:p>
          </p:txBody>
        </p:sp>
      </p:grpSp>
      <p:grpSp>
        <p:nvGrpSpPr>
          <p:cNvPr name="Group 35" id="35"/>
          <p:cNvGrpSpPr/>
          <p:nvPr/>
        </p:nvGrpSpPr>
        <p:grpSpPr>
          <a:xfrm rot="0">
            <a:off x="2057400" y="576072"/>
            <a:ext cx="2441448" cy="1070148"/>
            <a:chOff x="0" y="0"/>
            <a:chExt cx="3255264" cy="1426865"/>
          </a:xfrm>
        </p:grpSpPr>
        <p:sp>
          <p:nvSpPr>
            <p:cNvPr name="Freeform 36" id="36"/>
            <p:cNvSpPr/>
            <p:nvPr/>
          </p:nvSpPr>
          <p:spPr>
            <a:xfrm flipH="false" flipV="false" rot="0">
              <a:off x="0" y="0"/>
              <a:ext cx="3255264" cy="1426865"/>
            </a:xfrm>
            <a:custGeom>
              <a:avLst/>
              <a:gdLst/>
              <a:ahLst/>
              <a:cxnLst/>
              <a:rect r="r" b="b" t="t" l="l"/>
              <a:pathLst>
                <a:path h="1426865" w="3255264">
                  <a:moveTo>
                    <a:pt x="0" y="0"/>
                  </a:moveTo>
                  <a:lnTo>
                    <a:pt x="3255264" y="0"/>
                  </a:lnTo>
                  <a:lnTo>
                    <a:pt x="3255264" y="1426865"/>
                  </a:lnTo>
                  <a:lnTo>
                    <a:pt x="0" y="1426865"/>
                  </a:lnTo>
                  <a:close/>
                </a:path>
              </a:pathLst>
            </a:custGeom>
            <a:blipFill>
              <a:blip r:embed="rId4">
                <a:alphaModFix amt="0"/>
              </a:blip>
              <a:stretch>
                <a:fillRect l="-4781" t="0" r="-4781" b="2591"/>
              </a:stretch>
            </a:blipFill>
          </p:spPr>
        </p:sp>
        <p:sp>
          <p:nvSpPr>
            <p:cNvPr name="TextBox 37" id="37"/>
            <p:cNvSpPr txBox="true"/>
            <p:nvPr/>
          </p:nvSpPr>
          <p:spPr>
            <a:xfrm>
              <a:off x="0" y="-38100"/>
              <a:ext cx="3255264" cy="1464965"/>
            </a:xfrm>
            <a:prstGeom prst="rect">
              <a:avLst/>
            </a:prstGeom>
          </p:spPr>
          <p:txBody>
            <a:bodyPr anchor="ctr" rtlCol="false" tIns="0" lIns="0" bIns="0" rIns="0"/>
            <a:lstStyle/>
            <a:p>
              <a:pPr algn="l">
                <a:lnSpc>
                  <a:spcPts val="1859"/>
                </a:lnSpc>
              </a:pPr>
              <a:r>
                <a:rPr lang="en-US" b="true" sz="1549" spc="516">
                  <a:solidFill>
                    <a:srgbClr val="5B6F6B"/>
                  </a:solidFill>
                  <a:latin typeface="Calibri (MS) Bold"/>
                  <a:ea typeface="Calibri (MS) Bold"/>
                  <a:cs typeface="Calibri (MS) Bold"/>
                  <a:sym typeface="Calibri (MS) Bold"/>
                </a:rPr>
                <a:t>TEAM</a:t>
              </a:r>
            </a:p>
            <a:p>
              <a:pPr algn="l">
                <a:lnSpc>
                  <a:spcPts val="2939"/>
                </a:lnSpc>
              </a:pPr>
              <a:r>
                <a:rPr lang="en-US" b="true" sz="2449" spc="816">
                  <a:solidFill>
                    <a:srgbClr val="026855"/>
                  </a:solidFill>
                  <a:latin typeface="Calibri (MS) Bold"/>
                  <a:ea typeface="Calibri (MS) Bold"/>
                  <a:cs typeface="Calibri (MS) Bold"/>
                  <a:sym typeface="Calibri (MS) Bold"/>
                </a:rPr>
                <a:t>INFINITE LOOPS</a:t>
              </a:r>
            </a:p>
          </p:txBody>
        </p:sp>
      </p:grpSp>
      <p:sp>
        <p:nvSpPr>
          <p:cNvPr name="TextBox 38" id="38"/>
          <p:cNvSpPr txBox="true"/>
          <p:nvPr/>
        </p:nvSpPr>
        <p:spPr>
          <a:xfrm rot="0">
            <a:off x="1994492" y="2823210"/>
            <a:ext cx="15327716" cy="2009775"/>
          </a:xfrm>
          <a:prstGeom prst="rect">
            <a:avLst/>
          </a:prstGeom>
        </p:spPr>
        <p:txBody>
          <a:bodyPr anchor="t" rtlCol="false" tIns="0" lIns="0" bIns="0" rIns="0">
            <a:spAutoFit/>
          </a:bodyPr>
          <a:lstStyle/>
          <a:p>
            <a:pPr algn="l" marL="561339" indent="-280669" lvl="1">
              <a:lnSpc>
                <a:spcPts val="3119"/>
              </a:lnSpc>
              <a:spcBef>
                <a:spcPct val="0"/>
              </a:spcBef>
              <a:buFont typeface="Arial"/>
              <a:buChar char="•"/>
            </a:pPr>
            <a:r>
              <a:rPr lang="en-US" b="true" sz="2599" spc="246">
                <a:solidFill>
                  <a:srgbClr val="000000"/>
                </a:solidFill>
                <a:latin typeface="Calibri (MS) Bold"/>
                <a:ea typeface="Calibri (MS) Bold"/>
                <a:cs typeface="Calibri (MS) Bold"/>
                <a:sym typeface="Calibri (MS) Bold"/>
              </a:rPr>
              <a:t>Main Difficulties and Bottlenecks:</a:t>
            </a:r>
            <a:r>
              <a:rPr lang="en-US" sz="2599" spc="246">
                <a:solidFill>
                  <a:srgbClr val="000000"/>
                </a:solidFill>
                <a:latin typeface="Calibri (MS)"/>
                <a:ea typeface="Calibri (MS)"/>
                <a:cs typeface="Calibri (MS)"/>
                <a:sym typeface="Calibri (MS)"/>
              </a:rPr>
              <a:t>Unexpected machine breakdowns can trigger multiple alarms simultaneously, making it difficult t</a:t>
            </a:r>
            <a:r>
              <a:rPr lang="en-US" sz="2599" spc="246">
                <a:solidFill>
                  <a:srgbClr val="000000"/>
                </a:solidFill>
                <a:latin typeface="Calibri (MS)"/>
                <a:ea typeface="Calibri (MS)"/>
                <a:cs typeface="Calibri (MS)"/>
                <a:sym typeface="Calibri (MS)"/>
              </a:rPr>
              <a:t>o distinguish the actual fault from its resulting symptoms. Technicians must manually search through scattered sensor data, equipment manuals, and maintenance records, delaying fault diagnosis and recovery.</a:t>
            </a:r>
          </a:p>
          <a:p>
            <a:pPr algn="l">
              <a:lnSpc>
                <a:spcPts val="3119"/>
              </a:lnSpc>
              <a:spcBef>
                <a:spcPct val="0"/>
              </a:spcBef>
            </a:pPr>
          </a:p>
        </p:txBody>
      </p:sp>
      <p:sp>
        <p:nvSpPr>
          <p:cNvPr name="TextBox 39" id="39"/>
          <p:cNvSpPr txBox="true"/>
          <p:nvPr/>
        </p:nvSpPr>
        <p:spPr>
          <a:xfrm rot="0">
            <a:off x="1994492" y="4693091"/>
            <a:ext cx="15201900" cy="2009775"/>
          </a:xfrm>
          <a:prstGeom prst="rect">
            <a:avLst/>
          </a:prstGeom>
        </p:spPr>
        <p:txBody>
          <a:bodyPr anchor="t" rtlCol="false" tIns="0" lIns="0" bIns="0" rIns="0">
            <a:spAutoFit/>
          </a:bodyPr>
          <a:lstStyle/>
          <a:p>
            <a:pPr algn="l" marL="561339" indent="-280669" lvl="1">
              <a:lnSpc>
                <a:spcPts val="3119"/>
              </a:lnSpc>
              <a:spcBef>
                <a:spcPct val="0"/>
              </a:spcBef>
              <a:buFont typeface="Arial"/>
              <a:buChar char="•"/>
            </a:pPr>
            <a:r>
              <a:rPr lang="en-US" b="true" sz="2599" spc="247">
                <a:solidFill>
                  <a:srgbClr val="000000"/>
                </a:solidFill>
                <a:latin typeface="Calibri (MS) Bold"/>
                <a:ea typeface="Calibri (MS) Bold"/>
                <a:cs typeface="Calibri (MS) Bold"/>
                <a:sym typeface="Calibri (MS) Bold"/>
              </a:rPr>
              <a:t>Ro</a:t>
            </a:r>
            <a:r>
              <a:rPr lang="en-US" b="true" sz="2599" spc="247">
                <a:solidFill>
                  <a:srgbClr val="000000"/>
                </a:solidFill>
                <a:latin typeface="Calibri (MS) Bold"/>
                <a:ea typeface="Calibri (MS) Bold"/>
                <a:cs typeface="Calibri (MS) Bold"/>
                <a:sym typeface="Calibri (MS) Bold"/>
              </a:rPr>
              <a:t>ot Causes Behind the Problem:</a:t>
            </a:r>
            <a:r>
              <a:rPr lang="en-US" sz="2599" spc="247">
                <a:solidFill>
                  <a:srgbClr val="000000"/>
                </a:solidFill>
                <a:latin typeface="Calibri (MS)"/>
                <a:ea typeface="Calibri (MS)"/>
                <a:cs typeface="Calibri (MS)"/>
                <a:sym typeface="Calibri (MS)"/>
              </a:rPr>
              <a:t>The core issue is the lack of an integrated, intelligent root-cause identification system that connects machine alarms with technical documentation and historical maintenance data. Existing monitoring systems may detect and report faults, but technicians still need to interpret the information and determine the underlying cause themselves.</a:t>
            </a:r>
          </a:p>
        </p:txBody>
      </p:sp>
      <p:sp>
        <p:nvSpPr>
          <p:cNvPr name="TextBox 40" id="40"/>
          <p:cNvSpPr txBox="true"/>
          <p:nvPr/>
        </p:nvSpPr>
        <p:spPr>
          <a:xfrm rot="0">
            <a:off x="1994492" y="6817166"/>
            <a:ext cx="14927123" cy="2009775"/>
          </a:xfrm>
          <a:prstGeom prst="rect">
            <a:avLst/>
          </a:prstGeom>
        </p:spPr>
        <p:txBody>
          <a:bodyPr anchor="t" rtlCol="false" tIns="0" lIns="0" bIns="0" rIns="0">
            <a:spAutoFit/>
          </a:bodyPr>
          <a:lstStyle/>
          <a:p>
            <a:pPr algn="l" marL="561339" indent="-280669" lvl="1">
              <a:lnSpc>
                <a:spcPts val="3119"/>
              </a:lnSpc>
              <a:spcBef>
                <a:spcPct val="0"/>
              </a:spcBef>
              <a:buFont typeface="Arial"/>
              <a:buChar char="•"/>
            </a:pPr>
            <a:r>
              <a:rPr lang="en-US" b="true" sz="2599" spc="246">
                <a:solidFill>
                  <a:srgbClr val="000000"/>
                </a:solidFill>
                <a:latin typeface="Calibri (MS) Bold"/>
                <a:ea typeface="Calibri (MS) Bold"/>
                <a:cs typeface="Calibri (MS) Bold"/>
                <a:sym typeface="Calibri (MS) Bold"/>
              </a:rPr>
              <a:t>Consequences of Leaving the Problem Unsolved:</a:t>
            </a:r>
            <a:r>
              <a:rPr lang="en-US" sz="2599" spc="246">
                <a:solidFill>
                  <a:srgbClr val="000000"/>
                </a:solidFill>
                <a:latin typeface="Calibri (MS)"/>
                <a:ea typeface="Calibri (MS)"/>
                <a:cs typeface="Calibri (MS)"/>
                <a:sym typeface="Calibri (MS)"/>
              </a:rPr>
              <a:t>Delayed root-cause identification leads to prolonged machine d</a:t>
            </a:r>
            <a:r>
              <a:rPr lang="en-US" sz="2599" spc="246">
                <a:solidFill>
                  <a:srgbClr val="000000"/>
                </a:solidFill>
                <a:latin typeface="Calibri (MS)"/>
                <a:ea typeface="Calibri (MS)"/>
                <a:cs typeface="Calibri (MS)"/>
                <a:sym typeface="Calibri (MS)"/>
              </a:rPr>
              <a:t>owntime, reduced production capacity, and increased maintenance and operational costs. Repeated failures can disrupt delivery schedules, affect customer trust, and reduce overall business profitability.</a:t>
            </a:r>
          </a:p>
          <a:p>
            <a:pPr algn="l">
              <a:lnSpc>
                <a:spcPts val="311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5400000">
            <a:off x="15903559" y="7017544"/>
            <a:ext cx="2161927" cy="1875473"/>
            <a:chOff x="0" y="0"/>
            <a:chExt cx="2882570" cy="2500630"/>
          </a:xfrm>
        </p:grpSpPr>
        <p:sp>
          <p:nvSpPr>
            <p:cNvPr name="Freeform 11" id="11"/>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2" id="12"/>
          <p:cNvGrpSpPr/>
          <p:nvPr/>
        </p:nvGrpSpPr>
        <p:grpSpPr>
          <a:xfrm rot="5400000">
            <a:off x="14613988" y="8011954"/>
            <a:ext cx="1449219" cy="1258252"/>
            <a:chOff x="0" y="0"/>
            <a:chExt cx="1932292" cy="1677670"/>
          </a:xfrm>
        </p:grpSpPr>
        <p:sp>
          <p:nvSpPr>
            <p:cNvPr name="Freeform 13" id="13"/>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4" id="14"/>
          <p:cNvGrpSpPr/>
          <p:nvPr/>
        </p:nvGrpSpPr>
        <p:grpSpPr>
          <a:xfrm rot="5400000">
            <a:off x="17357188" y="5748814"/>
            <a:ext cx="1449219" cy="1258252"/>
            <a:chOff x="0" y="0"/>
            <a:chExt cx="1932292" cy="1677670"/>
          </a:xfrm>
        </p:grpSpPr>
        <p:sp>
          <p:nvSpPr>
            <p:cNvPr name="Freeform 15" id="15"/>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6" id="16"/>
          <p:cNvGrpSpPr/>
          <p:nvPr/>
        </p:nvGrpSpPr>
        <p:grpSpPr>
          <a:xfrm rot="0">
            <a:off x="4333544" y="162083"/>
            <a:ext cx="11247120" cy="1234440"/>
            <a:chOff x="0" y="0"/>
            <a:chExt cx="14996160" cy="1645920"/>
          </a:xfrm>
        </p:grpSpPr>
        <p:sp>
          <p:nvSpPr>
            <p:cNvPr name="Freeform 17" id="17"/>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8" id="18"/>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EXISTING SOLUTIONS / APPROACHES</a:t>
              </a:r>
            </a:p>
          </p:txBody>
        </p:sp>
      </p:grpSp>
      <p:grpSp>
        <p:nvGrpSpPr>
          <p:cNvPr name="Group 19" id="19"/>
          <p:cNvGrpSpPr/>
          <p:nvPr/>
        </p:nvGrpSpPr>
        <p:grpSpPr>
          <a:xfrm rot="0">
            <a:off x="210171" y="141073"/>
            <a:ext cx="3923347" cy="1248727"/>
            <a:chOff x="0" y="0"/>
            <a:chExt cx="5231130" cy="1664970"/>
          </a:xfrm>
        </p:grpSpPr>
        <p:sp>
          <p:nvSpPr>
            <p:cNvPr name="Freeform 20" id="20"/>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1" id="21"/>
          <p:cNvGrpSpPr/>
          <p:nvPr/>
        </p:nvGrpSpPr>
        <p:grpSpPr>
          <a:xfrm rot="0">
            <a:off x="429627" y="346813"/>
            <a:ext cx="960692" cy="837248"/>
            <a:chOff x="0" y="0"/>
            <a:chExt cx="1280922" cy="1116330"/>
          </a:xfrm>
        </p:grpSpPr>
        <p:sp>
          <p:nvSpPr>
            <p:cNvPr name="Freeform 22" id="22"/>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3" id="23"/>
          <p:cNvGrpSpPr/>
          <p:nvPr/>
        </p:nvGrpSpPr>
        <p:grpSpPr>
          <a:xfrm rot="0">
            <a:off x="635653" y="491116"/>
            <a:ext cx="548640" cy="548640"/>
            <a:chOff x="0" y="0"/>
            <a:chExt cx="731520" cy="731520"/>
          </a:xfrm>
        </p:grpSpPr>
        <p:sp>
          <p:nvSpPr>
            <p:cNvPr name="Freeform 24" id="24"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5" id="25"/>
          <p:cNvGrpSpPr/>
          <p:nvPr/>
        </p:nvGrpSpPr>
        <p:grpSpPr>
          <a:xfrm rot="0">
            <a:off x="429627" y="1612316"/>
            <a:ext cx="685800" cy="593903"/>
            <a:chOff x="0" y="0"/>
            <a:chExt cx="914400" cy="791870"/>
          </a:xfrm>
        </p:grpSpPr>
        <p:sp>
          <p:nvSpPr>
            <p:cNvPr name="Freeform 26" id="26"/>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27" id="27"/>
          <p:cNvGrpSpPr/>
          <p:nvPr/>
        </p:nvGrpSpPr>
        <p:grpSpPr>
          <a:xfrm rot="0">
            <a:off x="566787" y="1702841"/>
            <a:ext cx="411480" cy="411480"/>
            <a:chOff x="0" y="0"/>
            <a:chExt cx="548640" cy="548640"/>
          </a:xfrm>
        </p:grpSpPr>
        <p:sp>
          <p:nvSpPr>
            <p:cNvPr name="Freeform 28" id="28"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29" id="29"/>
          <p:cNvGrpSpPr/>
          <p:nvPr/>
        </p:nvGrpSpPr>
        <p:grpSpPr>
          <a:xfrm rot="0">
            <a:off x="1184293" y="1652895"/>
            <a:ext cx="14401800" cy="754380"/>
            <a:chOff x="0" y="0"/>
            <a:chExt cx="19202400" cy="1005840"/>
          </a:xfrm>
        </p:grpSpPr>
        <p:sp>
          <p:nvSpPr>
            <p:cNvPr name="Freeform 30" id="30"/>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1" id="31"/>
            <p:cNvSpPr txBox="true"/>
            <p:nvPr/>
          </p:nvSpPr>
          <p:spPr>
            <a:xfrm>
              <a:off x="0" y="-57150"/>
              <a:ext cx="19202400" cy="1062990"/>
            </a:xfrm>
            <a:prstGeom prst="rect">
              <a:avLst/>
            </a:prstGeom>
          </p:spPr>
          <p:txBody>
            <a:bodyPr anchor="ctr" rtlCol="false" tIns="0" lIns="0" bIns="0" rIns="0"/>
            <a:lstStyle/>
            <a:p>
              <a:pPr algn="l">
                <a:lnSpc>
                  <a:spcPts val="3599"/>
                </a:lnSpc>
              </a:pPr>
              <a:r>
                <a:rPr lang="en-US" b="true" sz="2999" u="sng">
                  <a:solidFill>
                    <a:srgbClr val="000000"/>
                  </a:solidFill>
                  <a:latin typeface="Calibri (MS) Bold"/>
                  <a:ea typeface="Calibri (MS) Bold"/>
                  <a:cs typeface="Calibri (MS) Bold"/>
                  <a:sym typeface="Calibri (MS) Bold"/>
                </a:rPr>
                <a:t>What is already being done, and where it falls short</a:t>
              </a:r>
            </a:p>
          </p:txBody>
        </p:sp>
      </p:grpSp>
      <p:grpSp>
        <p:nvGrpSpPr>
          <p:cNvPr name="Group 32" id="32"/>
          <p:cNvGrpSpPr/>
          <p:nvPr/>
        </p:nvGrpSpPr>
        <p:grpSpPr>
          <a:xfrm rot="0">
            <a:off x="16888511" y="9614916"/>
            <a:ext cx="685800" cy="593903"/>
            <a:chOff x="0" y="0"/>
            <a:chExt cx="914400" cy="791870"/>
          </a:xfrm>
        </p:grpSpPr>
        <p:sp>
          <p:nvSpPr>
            <p:cNvPr name="Freeform 33" id="33"/>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34" id="34"/>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6</a:t>
              </a:r>
            </a:p>
          </p:txBody>
        </p:sp>
      </p:grpSp>
      <p:grpSp>
        <p:nvGrpSpPr>
          <p:cNvPr name="Group 35" id="35"/>
          <p:cNvGrpSpPr/>
          <p:nvPr/>
        </p:nvGrpSpPr>
        <p:grpSpPr>
          <a:xfrm rot="0">
            <a:off x="1588915" y="244228"/>
            <a:ext cx="2441448" cy="1070148"/>
            <a:chOff x="0" y="0"/>
            <a:chExt cx="3255264" cy="1426865"/>
          </a:xfrm>
        </p:grpSpPr>
        <p:sp>
          <p:nvSpPr>
            <p:cNvPr name="Freeform 36" id="36"/>
            <p:cNvSpPr/>
            <p:nvPr/>
          </p:nvSpPr>
          <p:spPr>
            <a:xfrm flipH="false" flipV="false" rot="0">
              <a:off x="0" y="0"/>
              <a:ext cx="3255264" cy="1426865"/>
            </a:xfrm>
            <a:custGeom>
              <a:avLst/>
              <a:gdLst/>
              <a:ahLst/>
              <a:cxnLst/>
              <a:rect r="r" b="b" t="t" l="l"/>
              <a:pathLst>
                <a:path h="1426865" w="3255264">
                  <a:moveTo>
                    <a:pt x="0" y="0"/>
                  </a:moveTo>
                  <a:lnTo>
                    <a:pt x="3255264" y="0"/>
                  </a:lnTo>
                  <a:lnTo>
                    <a:pt x="3255264" y="1426865"/>
                  </a:lnTo>
                  <a:lnTo>
                    <a:pt x="0" y="1426865"/>
                  </a:lnTo>
                  <a:close/>
                </a:path>
              </a:pathLst>
            </a:custGeom>
            <a:blipFill>
              <a:blip r:embed="rId4">
                <a:alphaModFix amt="0"/>
              </a:blip>
              <a:stretch>
                <a:fillRect l="-4781" t="0" r="-4781" b="2591"/>
              </a:stretch>
            </a:blipFill>
          </p:spPr>
        </p:sp>
        <p:sp>
          <p:nvSpPr>
            <p:cNvPr name="TextBox 37" id="37"/>
            <p:cNvSpPr txBox="true"/>
            <p:nvPr/>
          </p:nvSpPr>
          <p:spPr>
            <a:xfrm>
              <a:off x="0" y="-38100"/>
              <a:ext cx="3255264" cy="1464965"/>
            </a:xfrm>
            <a:prstGeom prst="rect">
              <a:avLst/>
            </a:prstGeom>
          </p:spPr>
          <p:txBody>
            <a:bodyPr anchor="ctr" rtlCol="false" tIns="0" lIns="0" bIns="0" rIns="0"/>
            <a:lstStyle/>
            <a:p>
              <a:pPr algn="l">
                <a:lnSpc>
                  <a:spcPts val="1859"/>
                </a:lnSpc>
              </a:pPr>
              <a:r>
                <a:rPr lang="en-US" b="true" sz="1549" spc="516">
                  <a:solidFill>
                    <a:srgbClr val="5B6F6B"/>
                  </a:solidFill>
                  <a:latin typeface="Calibri (MS) Bold"/>
                  <a:ea typeface="Calibri (MS) Bold"/>
                  <a:cs typeface="Calibri (MS) Bold"/>
                  <a:sym typeface="Calibri (MS) Bold"/>
                </a:rPr>
                <a:t>TEAM</a:t>
              </a:r>
            </a:p>
            <a:p>
              <a:pPr algn="l">
                <a:lnSpc>
                  <a:spcPts val="2939"/>
                </a:lnSpc>
              </a:pPr>
              <a:r>
                <a:rPr lang="en-US" b="true" sz="2449" spc="816">
                  <a:solidFill>
                    <a:srgbClr val="026855"/>
                  </a:solidFill>
                  <a:latin typeface="Calibri (MS) Bold"/>
                  <a:ea typeface="Calibri (MS) Bold"/>
                  <a:cs typeface="Calibri (MS) Bold"/>
                  <a:sym typeface="Calibri (MS) Bold"/>
                </a:rPr>
                <a:t>INFINITE LOOPS</a:t>
              </a:r>
            </a:p>
          </p:txBody>
        </p:sp>
      </p:grpSp>
      <p:sp>
        <p:nvSpPr>
          <p:cNvPr name="TextBox 38" id="38"/>
          <p:cNvSpPr txBox="true"/>
          <p:nvPr/>
        </p:nvSpPr>
        <p:spPr>
          <a:xfrm rot="0">
            <a:off x="1184293" y="2340331"/>
            <a:ext cx="17103250" cy="1714500"/>
          </a:xfrm>
          <a:prstGeom prst="rect">
            <a:avLst/>
          </a:prstGeom>
        </p:spPr>
        <p:txBody>
          <a:bodyPr anchor="t" rtlCol="false" tIns="0" lIns="0" bIns="0" rIns="0">
            <a:spAutoFit/>
          </a:bodyPr>
          <a:lstStyle/>
          <a:p>
            <a:pPr algn="l">
              <a:lnSpc>
                <a:spcPts val="2639"/>
              </a:lnSpc>
              <a:spcBef>
                <a:spcPct val="0"/>
              </a:spcBef>
            </a:pPr>
            <a:r>
              <a:rPr lang="en-US" sz="2199" spc="208">
                <a:solidFill>
                  <a:srgbClr val="000000"/>
                </a:solidFill>
                <a:latin typeface="Calibri (MS)"/>
                <a:ea typeface="Calibri (MS)"/>
                <a:cs typeface="Calibri (MS)"/>
                <a:sym typeface="Calibri (MS)"/>
              </a:rPr>
              <a:t>1. Existing Methods, Systems </a:t>
            </a:r>
            <a:r>
              <a:rPr lang="en-US" sz="2199" spc="208">
                <a:solidFill>
                  <a:srgbClr val="000000"/>
                </a:solidFill>
                <a:latin typeface="Calibri (MS)"/>
                <a:ea typeface="Calibri (MS)"/>
                <a:cs typeface="Calibri (MS)"/>
                <a:sym typeface="Calibri (MS)"/>
              </a:rPr>
              <a:t>or Alternatives:</a:t>
            </a:r>
          </a:p>
          <a:p>
            <a:pPr algn="l" marL="474979" indent="-237490" lvl="1">
              <a:lnSpc>
                <a:spcPts val="2639"/>
              </a:lnSpc>
              <a:spcBef>
                <a:spcPct val="0"/>
              </a:spcBef>
              <a:buFont typeface="Arial"/>
              <a:buChar char="•"/>
            </a:pPr>
            <a:r>
              <a:rPr lang="en-US" sz="2199" spc="208">
                <a:solidFill>
                  <a:srgbClr val="000000"/>
                </a:solidFill>
                <a:latin typeface="Calibri (MS)"/>
                <a:ea typeface="Calibri (MS)"/>
                <a:cs typeface="Calibri (MS)"/>
                <a:sym typeface="Calibri (MS)"/>
              </a:rPr>
              <a:t>Industrial Monitoring Systems: Monitor machine conditions and generate alerts when abnormal behaviour is detected.</a:t>
            </a:r>
          </a:p>
          <a:p>
            <a:pPr algn="l" marL="474979" indent="-237490" lvl="1">
              <a:lnSpc>
                <a:spcPts val="2639"/>
              </a:lnSpc>
              <a:spcBef>
                <a:spcPct val="0"/>
              </a:spcBef>
              <a:buFont typeface="Arial"/>
              <a:buChar char="•"/>
            </a:pPr>
            <a:r>
              <a:rPr lang="en-US" sz="2199" spc="208">
                <a:solidFill>
                  <a:srgbClr val="000000"/>
                </a:solidFill>
                <a:latin typeface="Calibri (MS)"/>
                <a:ea typeface="Calibri (MS)"/>
                <a:cs typeface="Calibri (MS)"/>
                <a:sym typeface="Calibri (MS)"/>
              </a:rPr>
              <a:t>Predictive Maintenance Systems: Analyse machine data to predict potential equipment failures.</a:t>
            </a:r>
          </a:p>
          <a:p>
            <a:pPr algn="l" marL="474979" indent="-237490" lvl="1">
              <a:lnSpc>
                <a:spcPts val="2639"/>
              </a:lnSpc>
              <a:spcBef>
                <a:spcPct val="0"/>
              </a:spcBef>
              <a:buFont typeface="Arial"/>
              <a:buChar char="•"/>
            </a:pPr>
            <a:r>
              <a:rPr lang="en-US" sz="2199" spc="208">
                <a:solidFill>
                  <a:srgbClr val="000000"/>
                </a:solidFill>
                <a:latin typeface="Calibri (MS)"/>
                <a:ea typeface="Calibri (MS)"/>
                <a:cs typeface="Calibri (MS)"/>
                <a:sym typeface="Calibri (MS)"/>
              </a:rPr>
              <a:t>Manual Troubleshooting: Technicians inspect machines, analyse alarms, and use their experience to identify faults.</a:t>
            </a:r>
          </a:p>
          <a:p>
            <a:pPr algn="l" marL="474979" indent="-237490" lvl="1">
              <a:lnSpc>
                <a:spcPts val="2639"/>
              </a:lnSpc>
              <a:spcBef>
                <a:spcPct val="0"/>
              </a:spcBef>
              <a:buFont typeface="Arial"/>
              <a:buChar char="•"/>
            </a:pPr>
            <a:r>
              <a:rPr lang="en-US" sz="2199" spc="209">
                <a:solidFill>
                  <a:srgbClr val="000000"/>
                </a:solidFill>
                <a:latin typeface="Calibri (MS)"/>
                <a:ea typeface="Calibri (MS)"/>
                <a:cs typeface="Calibri (MS)"/>
                <a:sym typeface="Calibri (MS)"/>
              </a:rPr>
              <a:t>Equipment Manuals &amp; Maintenance Records: Provide technical information and details of previous failures and repairs.</a:t>
            </a:r>
          </a:p>
        </p:txBody>
      </p:sp>
      <p:sp>
        <p:nvSpPr>
          <p:cNvPr name="TextBox 39" id="39"/>
          <p:cNvSpPr txBox="true"/>
          <p:nvPr/>
        </p:nvSpPr>
        <p:spPr>
          <a:xfrm rot="0">
            <a:off x="1184293" y="4125305"/>
            <a:ext cx="17103707" cy="3714750"/>
          </a:xfrm>
          <a:prstGeom prst="rect">
            <a:avLst/>
          </a:prstGeom>
        </p:spPr>
        <p:txBody>
          <a:bodyPr anchor="t" rtlCol="false" tIns="0" lIns="0" bIns="0" rIns="0">
            <a:spAutoFit/>
          </a:bodyPr>
          <a:lstStyle/>
          <a:p>
            <a:pPr algn="l">
              <a:lnSpc>
                <a:spcPts val="2639"/>
              </a:lnSpc>
              <a:spcBef>
                <a:spcPct val="0"/>
              </a:spcBef>
            </a:pPr>
            <a:r>
              <a:rPr lang="en-US" b="true" sz="2199" spc="208">
                <a:solidFill>
                  <a:srgbClr val="000000"/>
                </a:solidFill>
                <a:latin typeface="Calibri (MS) Bold"/>
                <a:ea typeface="Calibri (MS) Bold"/>
                <a:cs typeface="Calibri (MS) Bold"/>
                <a:sym typeface="Calibri (MS) Bold"/>
              </a:rPr>
              <a:t>2. Limitati</a:t>
            </a:r>
            <a:r>
              <a:rPr lang="en-US" b="true" sz="2199" spc="208">
                <a:solidFill>
                  <a:srgbClr val="000000"/>
                </a:solidFill>
                <a:latin typeface="Calibri (MS) Bold"/>
                <a:ea typeface="Calibri (MS) Bold"/>
                <a:cs typeface="Calibri (MS) Bold"/>
                <a:sym typeface="Calibri (MS) Bold"/>
              </a:rPr>
              <a:t>ons of Existing Solutions:</a:t>
            </a:r>
          </a:p>
          <a:p>
            <a:pPr algn="l" marL="474979" indent="-237490" lvl="1">
              <a:lnSpc>
                <a:spcPts val="2639"/>
              </a:lnSpc>
              <a:spcBef>
                <a:spcPct val="0"/>
              </a:spcBef>
              <a:buFont typeface="Arial"/>
              <a:buChar char="•"/>
            </a:pPr>
            <a:r>
              <a:rPr lang="en-US" sz="2199" spc="208">
                <a:solidFill>
                  <a:srgbClr val="000000"/>
                </a:solidFill>
                <a:latin typeface="Calibri (MS)"/>
                <a:ea typeface="Calibri (MS)"/>
                <a:cs typeface="Calibri (MS)"/>
                <a:sym typeface="Calibri (MS)"/>
              </a:rPr>
              <a:t>Unclear Root Causes: Multiple alarms may appear simultaneously, making it difficult to identify the actual fault.</a:t>
            </a:r>
          </a:p>
          <a:p>
            <a:pPr algn="l" marL="474979" indent="-237490" lvl="1">
              <a:lnSpc>
                <a:spcPts val="2639"/>
              </a:lnSpc>
              <a:spcBef>
                <a:spcPct val="0"/>
              </a:spcBef>
              <a:buFont typeface="Arial"/>
              <a:buChar char="•"/>
            </a:pPr>
            <a:r>
              <a:rPr lang="en-US" sz="2199" spc="208">
                <a:solidFill>
                  <a:srgbClr val="000000"/>
                </a:solidFill>
                <a:latin typeface="Calibri (MS)"/>
                <a:ea typeface="Calibri (MS)"/>
                <a:cs typeface="Calibri (MS)"/>
                <a:sym typeface="Calibri (MS)"/>
              </a:rPr>
              <a:t>Scattered Information: Sensor data, equipment manuals, and previous maintenance records are often stored separately, increasing the time needed for investigation.</a:t>
            </a:r>
          </a:p>
          <a:p>
            <a:pPr algn="l" marL="474979" indent="-237490" lvl="1">
              <a:lnSpc>
                <a:spcPts val="2639"/>
              </a:lnSpc>
              <a:spcBef>
                <a:spcPct val="0"/>
              </a:spcBef>
              <a:buFont typeface="Arial"/>
              <a:buChar char="•"/>
            </a:pPr>
            <a:r>
              <a:rPr lang="en-US" sz="2199" spc="208">
                <a:solidFill>
                  <a:srgbClr val="000000"/>
                </a:solidFill>
                <a:latin typeface="Calibri (MS)"/>
                <a:ea typeface="Calibri (MS)"/>
                <a:cs typeface="Calibri (MS)"/>
                <a:sym typeface="Calibri (MS)"/>
              </a:rPr>
              <a:t>Time-Consuming Diagnosis: Technicians may need to compare different sources of information and rely heavily on their experience.</a:t>
            </a:r>
          </a:p>
          <a:p>
            <a:pPr algn="l" marL="474979" indent="-237490" lvl="1">
              <a:lnSpc>
                <a:spcPts val="2639"/>
              </a:lnSpc>
              <a:spcBef>
                <a:spcPct val="0"/>
              </a:spcBef>
              <a:buFont typeface="Arial"/>
              <a:buChar char="•"/>
            </a:pPr>
            <a:r>
              <a:rPr lang="en-US" sz="2199" spc="208">
                <a:solidFill>
                  <a:srgbClr val="000000"/>
                </a:solidFill>
                <a:latin typeface="Calibri (MS)"/>
                <a:ea typeface="Calibri (MS)"/>
                <a:cs typeface="Calibri (MS)"/>
                <a:sym typeface="Calibri (MS)"/>
              </a:rPr>
              <a:t>Harsh Working Conditions: Physical inspections may expose technicians to excessive heat, noise, dust, hazardous substances, or difficult-to-access machinery.</a:t>
            </a:r>
          </a:p>
          <a:p>
            <a:pPr algn="l" marL="474979" indent="-237490" lvl="1">
              <a:lnSpc>
                <a:spcPts val="2639"/>
              </a:lnSpc>
              <a:spcBef>
                <a:spcPct val="0"/>
              </a:spcBef>
              <a:buFont typeface="Arial"/>
              <a:buChar char="•"/>
            </a:pPr>
            <a:r>
              <a:rPr lang="en-US" sz="2199" spc="208">
                <a:solidFill>
                  <a:srgbClr val="000000"/>
                </a:solidFill>
                <a:latin typeface="Calibri (MS)"/>
                <a:ea typeface="Calibri (MS)"/>
                <a:cs typeface="Calibri (MS)"/>
                <a:sym typeface="Calibri (MS)"/>
              </a:rPr>
              <a:t>Unnecessary Physical Inspections: Without sufficient information about the likely fault, technicians may need to inspect machines physically before identifying where the problem lies.</a:t>
            </a:r>
          </a:p>
          <a:p>
            <a:pPr algn="l">
              <a:lnSpc>
                <a:spcPts val="2639"/>
              </a:lnSpc>
              <a:spcBef>
                <a:spcPct val="0"/>
              </a:spcBef>
            </a:pPr>
          </a:p>
        </p:txBody>
      </p:sp>
      <p:sp>
        <p:nvSpPr>
          <p:cNvPr name="TextBox 40" id="40"/>
          <p:cNvSpPr txBox="true"/>
          <p:nvPr/>
        </p:nvSpPr>
        <p:spPr>
          <a:xfrm rot="0">
            <a:off x="1184293" y="7721675"/>
            <a:ext cx="16966965" cy="1714500"/>
          </a:xfrm>
          <a:prstGeom prst="rect">
            <a:avLst/>
          </a:prstGeom>
        </p:spPr>
        <p:txBody>
          <a:bodyPr anchor="t" rtlCol="false" tIns="0" lIns="0" bIns="0" rIns="0">
            <a:spAutoFit/>
          </a:bodyPr>
          <a:lstStyle/>
          <a:p>
            <a:pPr algn="l">
              <a:lnSpc>
                <a:spcPts val="2639"/>
              </a:lnSpc>
              <a:spcBef>
                <a:spcPct val="0"/>
              </a:spcBef>
            </a:pPr>
            <a:r>
              <a:rPr lang="en-US" b="true" sz="2199" spc="208">
                <a:solidFill>
                  <a:srgbClr val="000000"/>
                </a:solidFill>
                <a:latin typeface="Calibri (MS) Bold"/>
                <a:ea typeface="Calibri (MS) Bold"/>
                <a:cs typeface="Calibri (MS) Bold"/>
                <a:sym typeface="Calibri (MS) Bold"/>
              </a:rPr>
              <a:t>3. The Gap They Leave Open – Our Opp</a:t>
            </a:r>
            <a:r>
              <a:rPr lang="en-US" b="true" sz="2199" spc="208">
                <a:solidFill>
                  <a:srgbClr val="000000"/>
                </a:solidFill>
                <a:latin typeface="Calibri (MS) Bold"/>
                <a:ea typeface="Calibri (MS) Bold"/>
                <a:cs typeface="Calibri (MS) Bold"/>
                <a:sym typeface="Calibri (MS) Bold"/>
              </a:rPr>
              <a:t>ortunity:</a:t>
            </a:r>
          </a:p>
          <a:p>
            <a:pPr algn="l" marL="474979" indent="-237490" lvl="1">
              <a:lnSpc>
                <a:spcPts val="2639"/>
              </a:lnSpc>
              <a:spcBef>
                <a:spcPct val="0"/>
              </a:spcBef>
              <a:buFont typeface="Arial"/>
              <a:buChar char="•"/>
            </a:pPr>
            <a:r>
              <a:rPr lang="en-US" sz="2199" spc="208">
                <a:solidFill>
                  <a:srgbClr val="000000"/>
                </a:solidFill>
                <a:latin typeface="Calibri (MS)"/>
                <a:ea typeface="Calibri (MS)"/>
                <a:cs typeface="Calibri (MS)"/>
                <a:sym typeface="Calibri (MS)"/>
              </a:rPr>
              <a:t>Existing systems can monitor machines, predict failures, and provide technical information, but technicians may still need to connect different sources of data manually to determine the root cause. This can increase downtime, maintenance costs, and exposure to potentially hazardous working environments.</a:t>
            </a:r>
          </a:p>
          <a:p>
            <a:pPr algn="l">
              <a:lnSpc>
                <a:spcPts val="263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5400000">
            <a:off x="15903559" y="7017544"/>
            <a:ext cx="2161927" cy="1875473"/>
            <a:chOff x="0" y="0"/>
            <a:chExt cx="2882570" cy="2500630"/>
          </a:xfrm>
        </p:grpSpPr>
        <p:sp>
          <p:nvSpPr>
            <p:cNvPr name="Freeform 11" id="11"/>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2" id="12"/>
          <p:cNvGrpSpPr/>
          <p:nvPr/>
        </p:nvGrpSpPr>
        <p:grpSpPr>
          <a:xfrm rot="5400000">
            <a:off x="14613988" y="8011954"/>
            <a:ext cx="1449219" cy="1258252"/>
            <a:chOff x="0" y="0"/>
            <a:chExt cx="1932292" cy="1677670"/>
          </a:xfrm>
        </p:grpSpPr>
        <p:sp>
          <p:nvSpPr>
            <p:cNvPr name="Freeform 13" id="13"/>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4" id="14"/>
          <p:cNvGrpSpPr/>
          <p:nvPr/>
        </p:nvGrpSpPr>
        <p:grpSpPr>
          <a:xfrm rot="5400000">
            <a:off x="17357188" y="5748814"/>
            <a:ext cx="1449219" cy="1258252"/>
            <a:chOff x="0" y="0"/>
            <a:chExt cx="1932292" cy="1677670"/>
          </a:xfrm>
        </p:grpSpPr>
        <p:sp>
          <p:nvSpPr>
            <p:cNvPr name="Freeform 15" id="15"/>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6" id="16"/>
          <p:cNvGrpSpPr/>
          <p:nvPr/>
        </p:nvGrpSpPr>
        <p:grpSpPr>
          <a:xfrm rot="0">
            <a:off x="4720604" y="472916"/>
            <a:ext cx="11247120" cy="1234440"/>
            <a:chOff x="0" y="0"/>
            <a:chExt cx="14996160" cy="1645920"/>
          </a:xfrm>
        </p:grpSpPr>
        <p:sp>
          <p:nvSpPr>
            <p:cNvPr name="Freeform 17" id="17"/>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8" id="18"/>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PROBLEM INSIGHTS &amp; OPPORTUNITY AREAS</a:t>
              </a:r>
            </a:p>
          </p:txBody>
        </p:sp>
      </p:grpSp>
      <p:grpSp>
        <p:nvGrpSpPr>
          <p:cNvPr name="Group 19" id="19"/>
          <p:cNvGrpSpPr/>
          <p:nvPr/>
        </p:nvGrpSpPr>
        <p:grpSpPr>
          <a:xfrm rot="0">
            <a:off x="678656" y="472916"/>
            <a:ext cx="3923347" cy="1248727"/>
            <a:chOff x="0" y="0"/>
            <a:chExt cx="5231130" cy="1664970"/>
          </a:xfrm>
        </p:grpSpPr>
        <p:sp>
          <p:nvSpPr>
            <p:cNvPr name="Freeform 20" id="20"/>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1" id="21"/>
          <p:cNvGrpSpPr/>
          <p:nvPr/>
        </p:nvGrpSpPr>
        <p:grpSpPr>
          <a:xfrm rot="0">
            <a:off x="898112" y="678656"/>
            <a:ext cx="960692" cy="837248"/>
            <a:chOff x="0" y="0"/>
            <a:chExt cx="1280922" cy="1116330"/>
          </a:xfrm>
        </p:grpSpPr>
        <p:sp>
          <p:nvSpPr>
            <p:cNvPr name="Freeform 22" id="22"/>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3" id="23"/>
          <p:cNvGrpSpPr/>
          <p:nvPr/>
        </p:nvGrpSpPr>
        <p:grpSpPr>
          <a:xfrm rot="0">
            <a:off x="1104138" y="822960"/>
            <a:ext cx="548640" cy="548640"/>
            <a:chOff x="0" y="0"/>
            <a:chExt cx="731520" cy="731520"/>
          </a:xfrm>
        </p:grpSpPr>
        <p:sp>
          <p:nvSpPr>
            <p:cNvPr name="Freeform 24" id="24"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5" id="25"/>
          <p:cNvGrpSpPr/>
          <p:nvPr/>
        </p:nvGrpSpPr>
        <p:grpSpPr>
          <a:xfrm rot="0">
            <a:off x="761238" y="1778965"/>
            <a:ext cx="685800" cy="593903"/>
            <a:chOff x="0" y="0"/>
            <a:chExt cx="914400" cy="791870"/>
          </a:xfrm>
        </p:grpSpPr>
        <p:sp>
          <p:nvSpPr>
            <p:cNvPr name="Freeform 26" id="26"/>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27" id="27"/>
          <p:cNvGrpSpPr/>
          <p:nvPr/>
        </p:nvGrpSpPr>
        <p:grpSpPr>
          <a:xfrm rot="0">
            <a:off x="898398" y="1869491"/>
            <a:ext cx="411480" cy="411480"/>
            <a:chOff x="0" y="0"/>
            <a:chExt cx="548640" cy="548640"/>
          </a:xfrm>
        </p:grpSpPr>
        <p:sp>
          <p:nvSpPr>
            <p:cNvPr name="Freeform 28" id="28"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29" id="29"/>
          <p:cNvGrpSpPr/>
          <p:nvPr/>
        </p:nvGrpSpPr>
        <p:grpSpPr>
          <a:xfrm rot="0">
            <a:off x="1565924" y="1698041"/>
            <a:ext cx="14401800" cy="754380"/>
            <a:chOff x="0" y="0"/>
            <a:chExt cx="19202400" cy="1005840"/>
          </a:xfrm>
        </p:grpSpPr>
        <p:sp>
          <p:nvSpPr>
            <p:cNvPr name="Freeform 30" id="30"/>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1" id="31"/>
            <p:cNvSpPr txBox="true"/>
            <p:nvPr/>
          </p:nvSpPr>
          <p:spPr>
            <a:xfrm>
              <a:off x="0" y="-57150"/>
              <a:ext cx="19202400" cy="1062990"/>
            </a:xfrm>
            <a:prstGeom prst="rect">
              <a:avLst/>
            </a:prstGeom>
          </p:spPr>
          <p:txBody>
            <a:bodyPr anchor="ctr" rtlCol="false" tIns="0" lIns="0" bIns="0" rIns="0"/>
            <a:lstStyle/>
            <a:p>
              <a:pPr algn="l">
                <a:lnSpc>
                  <a:spcPts val="3240"/>
                </a:lnSpc>
              </a:pPr>
              <a:r>
                <a:rPr lang="en-US" b="true" sz="2700" u="sng">
                  <a:solidFill>
                    <a:srgbClr val="000000"/>
                  </a:solidFill>
                  <a:latin typeface="Calibri (MS) Bold"/>
                  <a:ea typeface="Calibri (MS) Bold"/>
                  <a:cs typeface="Calibri (MS) Bold"/>
                  <a:sym typeface="Calibri (MS) Bold"/>
                </a:rPr>
                <a:t>Resources required to solve the problem</a:t>
              </a:r>
            </a:p>
          </p:txBody>
        </p:sp>
      </p:grpSp>
      <p:sp>
        <p:nvSpPr>
          <p:cNvPr name="TextBox 32" id="32"/>
          <p:cNvSpPr txBox="true"/>
          <p:nvPr/>
        </p:nvSpPr>
        <p:spPr>
          <a:xfrm rot="0">
            <a:off x="1565924" y="2343150"/>
            <a:ext cx="14567098" cy="7189470"/>
          </a:xfrm>
          <a:prstGeom prst="rect">
            <a:avLst/>
          </a:prstGeom>
        </p:spPr>
        <p:txBody>
          <a:bodyPr anchor="t" rtlCol="false" tIns="0" lIns="0" bIns="0" rIns="0">
            <a:spAutoFit/>
          </a:bodyPr>
          <a:lstStyle/>
          <a:p>
            <a:pPr algn="l">
              <a:lnSpc>
                <a:spcPts val="2874"/>
              </a:lnSpc>
            </a:pPr>
            <a:r>
              <a:rPr lang="en-US" sz="2395" b="true">
                <a:solidFill>
                  <a:srgbClr val="0E2A2F"/>
                </a:solidFill>
                <a:latin typeface="Calibri (MS) Bold"/>
                <a:ea typeface="Calibri (MS) Bold"/>
                <a:cs typeface="Calibri (MS) Bold"/>
                <a:sym typeface="Calibri (MS) Bold"/>
              </a:rPr>
              <a:t>Hardware Requirements:</a:t>
            </a:r>
          </a:p>
          <a:p>
            <a:pPr algn="l" marL="517109" indent="-258554" lvl="1">
              <a:lnSpc>
                <a:spcPts val="2874"/>
              </a:lnSpc>
              <a:buFont typeface="Arial"/>
              <a:buChar char="•"/>
            </a:pPr>
            <a:r>
              <a:rPr lang="en-US" sz="2395">
                <a:solidFill>
                  <a:srgbClr val="000000"/>
                </a:solidFill>
                <a:latin typeface="Calibri (MS)"/>
                <a:ea typeface="Calibri (MS)"/>
                <a:cs typeface="Calibri (MS)"/>
                <a:sym typeface="Calibri (MS)"/>
              </a:rPr>
              <a:t>Laptops, smartphones&amp;computing devices</a:t>
            </a:r>
          </a:p>
          <a:p>
            <a:pPr algn="l" marL="517109" indent="-258554" lvl="1">
              <a:lnSpc>
                <a:spcPts val="2874"/>
              </a:lnSpc>
              <a:buFont typeface="Arial"/>
              <a:buChar char="•"/>
            </a:pPr>
            <a:r>
              <a:rPr lang="en-US" sz="2395">
                <a:solidFill>
                  <a:srgbClr val="000000"/>
                </a:solidFill>
                <a:latin typeface="Calibri (MS)"/>
                <a:ea typeface="Calibri (MS)"/>
                <a:cs typeface="Calibri (MS)"/>
                <a:sym typeface="Calibri (MS)"/>
              </a:rPr>
              <a:t>Existing machine sensors and industrial computers</a:t>
            </a:r>
          </a:p>
          <a:p>
            <a:pPr algn="l" marL="517109" indent="-258554" lvl="1">
              <a:lnSpc>
                <a:spcPts val="2874"/>
              </a:lnSpc>
              <a:buFont typeface="Arial"/>
              <a:buChar char="•"/>
            </a:pPr>
            <a:r>
              <a:rPr lang="en-US" sz="2395">
                <a:solidFill>
                  <a:srgbClr val="000000"/>
                </a:solidFill>
                <a:latin typeface="Calibri (MS)"/>
                <a:ea typeface="Calibri (MS)"/>
                <a:cs typeface="Calibri (MS)"/>
                <a:sym typeface="Calibri (MS)"/>
              </a:rPr>
              <a:t>GPU servers </a:t>
            </a:r>
          </a:p>
          <a:p>
            <a:pPr algn="l" marL="517109" indent="-258554" lvl="1">
              <a:lnSpc>
                <a:spcPts val="2874"/>
              </a:lnSpc>
              <a:buFont typeface="Arial"/>
              <a:buChar char="•"/>
            </a:pPr>
            <a:r>
              <a:rPr lang="en-US" sz="2395">
                <a:solidFill>
                  <a:srgbClr val="000000"/>
                </a:solidFill>
                <a:latin typeface="Calibri (MS)"/>
                <a:ea typeface="Calibri (MS)"/>
                <a:cs typeface="Calibri (MS)"/>
                <a:sym typeface="Calibri (MS)"/>
              </a:rPr>
              <a:t>PLCs and network equipments</a:t>
            </a:r>
          </a:p>
          <a:p>
            <a:pPr algn="l">
              <a:lnSpc>
                <a:spcPts val="2874"/>
              </a:lnSpc>
            </a:pPr>
            <a:r>
              <a:rPr lang="en-US" sz="2395" b="true">
                <a:solidFill>
                  <a:srgbClr val="0E2A2F"/>
                </a:solidFill>
                <a:latin typeface="Calibri (MS) Bold"/>
                <a:ea typeface="Calibri (MS) Bold"/>
                <a:cs typeface="Calibri (MS) Bold"/>
                <a:sym typeface="Calibri (MS) Bold"/>
              </a:rPr>
              <a:t>Software Requirements:</a:t>
            </a:r>
          </a:p>
          <a:p>
            <a:pPr algn="l" marL="517109" indent="-258554" lvl="1">
              <a:lnSpc>
                <a:spcPts val="2874"/>
              </a:lnSpc>
              <a:buFont typeface="Arial"/>
              <a:buChar char="•"/>
            </a:pPr>
            <a:r>
              <a:rPr lang="en-US" sz="2395">
                <a:solidFill>
                  <a:srgbClr val="000000"/>
                </a:solidFill>
                <a:latin typeface="Calibri (MS)"/>
                <a:ea typeface="Calibri (MS)"/>
                <a:cs typeface="Calibri (MS)"/>
                <a:sym typeface="Calibri (MS)"/>
              </a:rPr>
              <a:t>Python and LLMs</a:t>
            </a:r>
          </a:p>
          <a:p>
            <a:pPr algn="l" marL="517109" indent="-258554" lvl="1">
              <a:lnSpc>
                <a:spcPts val="2874"/>
              </a:lnSpc>
              <a:buFont typeface="Arial"/>
              <a:buChar char="•"/>
            </a:pPr>
            <a:r>
              <a:rPr lang="en-US" sz="2395">
                <a:solidFill>
                  <a:srgbClr val="000000"/>
                </a:solidFill>
                <a:latin typeface="Calibri (MS)"/>
                <a:ea typeface="Calibri (MS)"/>
                <a:cs typeface="Calibri (MS)"/>
                <a:sym typeface="Calibri (MS)"/>
              </a:rPr>
              <a:t>AI/ML-based fault diagnosis system</a:t>
            </a:r>
          </a:p>
          <a:p>
            <a:pPr algn="l" marL="517109" indent="-258554" lvl="1">
              <a:lnSpc>
                <a:spcPts val="2874"/>
              </a:lnSpc>
              <a:buFont typeface="Arial"/>
              <a:buChar char="•"/>
            </a:pPr>
            <a:r>
              <a:rPr lang="en-US" sz="2395">
                <a:solidFill>
                  <a:srgbClr val="000000"/>
                </a:solidFill>
                <a:latin typeface="Calibri (MS)"/>
                <a:ea typeface="Calibri (MS)"/>
                <a:cs typeface="Calibri (MS)"/>
                <a:sym typeface="Calibri (MS)"/>
              </a:rPr>
              <a:t>Data collection and preprocessing software</a:t>
            </a:r>
          </a:p>
          <a:p>
            <a:pPr algn="l" marL="517109" indent="-258554" lvl="1">
              <a:lnSpc>
                <a:spcPts val="2874"/>
              </a:lnSpc>
              <a:buFont typeface="Arial"/>
              <a:buChar char="•"/>
            </a:pPr>
            <a:r>
              <a:rPr lang="en-US" sz="2395">
                <a:solidFill>
                  <a:srgbClr val="000000"/>
                </a:solidFill>
                <a:latin typeface="Calibri (MS)"/>
                <a:ea typeface="Calibri (MS)"/>
                <a:cs typeface="Calibri (MS)"/>
                <a:sym typeface="Calibri (MS)"/>
              </a:rPr>
              <a:t>Database for maintenance history</a:t>
            </a:r>
          </a:p>
          <a:p>
            <a:pPr algn="l" marL="517109" indent="-258554" lvl="1">
              <a:lnSpc>
                <a:spcPts val="2874"/>
              </a:lnSpc>
              <a:buFont typeface="Arial"/>
              <a:buChar char="•"/>
            </a:pPr>
            <a:r>
              <a:rPr lang="en-US" sz="2395">
                <a:solidFill>
                  <a:srgbClr val="000000"/>
                </a:solidFill>
                <a:latin typeface="Calibri (MS)"/>
                <a:ea typeface="Calibri (MS)"/>
                <a:cs typeface="Calibri (MS)"/>
                <a:sym typeface="Calibri (MS)"/>
              </a:rPr>
              <a:t>Digital repository for equipment manuals</a:t>
            </a:r>
          </a:p>
          <a:p>
            <a:pPr algn="l" marL="517109" indent="-258554" lvl="1">
              <a:lnSpc>
                <a:spcPts val="2874"/>
              </a:lnSpc>
              <a:buFont typeface="Arial"/>
              <a:buChar char="•"/>
            </a:pPr>
            <a:r>
              <a:rPr lang="en-US" sz="2395">
                <a:solidFill>
                  <a:srgbClr val="000000"/>
                </a:solidFill>
                <a:latin typeface="Calibri (MS)"/>
                <a:ea typeface="Calibri (MS)"/>
                <a:cs typeface="Calibri (MS)"/>
                <a:sym typeface="Calibri (MS)"/>
              </a:rPr>
              <a:t>Dashboard/user interface</a:t>
            </a:r>
          </a:p>
          <a:p>
            <a:pPr algn="l" marL="517109" indent="-258554" lvl="1">
              <a:lnSpc>
                <a:spcPts val="2874"/>
              </a:lnSpc>
              <a:buFont typeface="Arial"/>
              <a:buChar char="•"/>
            </a:pPr>
            <a:r>
              <a:rPr lang="en-US" sz="2395">
                <a:solidFill>
                  <a:srgbClr val="000000"/>
                </a:solidFill>
                <a:latin typeface="Calibri (MS)"/>
                <a:ea typeface="Calibri (MS)"/>
                <a:cs typeface="Calibri (MS)"/>
                <a:sym typeface="Calibri (MS)"/>
              </a:rPr>
              <a:t>Natural-language AI assistant for troubleshooting recommendations</a:t>
            </a:r>
          </a:p>
          <a:p>
            <a:pPr algn="l">
              <a:lnSpc>
                <a:spcPts val="2870"/>
              </a:lnSpc>
            </a:pPr>
            <a:r>
              <a:rPr lang="en-US" sz="2392" b="true">
                <a:solidFill>
                  <a:srgbClr val="0E2A2F"/>
                </a:solidFill>
                <a:latin typeface="Calibri (MS) Bold"/>
                <a:ea typeface="Calibri (MS) Bold"/>
                <a:cs typeface="Calibri (MS) Bold"/>
                <a:sym typeface="Calibri (MS) Bold"/>
              </a:rPr>
              <a:t>Other resources:</a:t>
            </a:r>
          </a:p>
          <a:p>
            <a:pPr algn="l" marL="516433" indent="-258217" lvl="1">
              <a:lnSpc>
                <a:spcPts val="2870"/>
              </a:lnSpc>
              <a:buFont typeface="Arial"/>
              <a:buChar char="•"/>
            </a:pPr>
            <a:r>
              <a:rPr lang="en-US" sz="2392">
                <a:solidFill>
                  <a:srgbClr val="000000"/>
                </a:solidFill>
                <a:latin typeface="Calibri (MS)"/>
                <a:ea typeface="Calibri (MS)"/>
                <a:cs typeface="Calibri (MS)"/>
                <a:sym typeface="Calibri (MS)"/>
              </a:rPr>
              <a:t>4-member development team – AI/software, automation, system design, and testing</a:t>
            </a:r>
          </a:p>
          <a:p>
            <a:pPr algn="l" marL="516433" indent="-258217" lvl="1">
              <a:lnSpc>
                <a:spcPts val="2870"/>
              </a:lnSpc>
              <a:buFont typeface="Arial"/>
              <a:buChar char="•"/>
            </a:pPr>
            <a:r>
              <a:rPr lang="en-US" sz="2392">
                <a:solidFill>
                  <a:srgbClr val="000000"/>
                </a:solidFill>
                <a:latin typeface="Calibri (MS)"/>
                <a:ea typeface="Calibri (MS)"/>
                <a:cs typeface="Calibri (MS)"/>
                <a:sym typeface="Calibri (MS)"/>
              </a:rPr>
              <a:t>1–2 maintenance engineers – validate AI suggestions and fault diagnosis</a:t>
            </a:r>
          </a:p>
          <a:p>
            <a:pPr algn="l" marL="516433" indent="-258217" lvl="1">
              <a:lnSpc>
                <a:spcPts val="2870"/>
              </a:lnSpc>
              <a:buFont typeface="Arial"/>
              <a:buChar char="•"/>
            </a:pPr>
            <a:r>
              <a:rPr lang="en-US" sz="2392">
                <a:solidFill>
                  <a:srgbClr val="000000"/>
                </a:solidFill>
                <a:latin typeface="Calibri (MS)"/>
                <a:ea typeface="Calibri (MS)"/>
                <a:cs typeface="Calibri (MS)"/>
                <a:sym typeface="Calibri (MS)"/>
              </a:rPr>
              <a:t>IT/OT support – secure integration with the factory network and machines</a:t>
            </a:r>
          </a:p>
          <a:p>
            <a:pPr algn="l" marL="516433" indent="-258217" lvl="1">
              <a:lnSpc>
                <a:spcPts val="2870"/>
              </a:lnSpc>
              <a:buFont typeface="Arial"/>
              <a:buChar char="•"/>
            </a:pPr>
            <a:r>
              <a:rPr lang="en-US" sz="2392">
                <a:solidFill>
                  <a:srgbClr val="000000"/>
                </a:solidFill>
                <a:latin typeface="Calibri (MS)"/>
                <a:ea typeface="Calibri (MS)"/>
                <a:cs typeface="Calibri (MS)"/>
                <a:sym typeface="Calibri (MS)"/>
              </a:rPr>
              <a:t>Historical fault &amp; sensor data – for analysis and AI training/reference</a:t>
            </a:r>
          </a:p>
          <a:p>
            <a:pPr algn="l" marL="516433" indent="-258217" lvl="1">
              <a:lnSpc>
                <a:spcPts val="2870"/>
              </a:lnSpc>
              <a:buFont typeface="Arial"/>
              <a:buChar char="•"/>
            </a:pPr>
            <a:r>
              <a:rPr lang="en-US" sz="2392">
                <a:solidFill>
                  <a:srgbClr val="000000"/>
                </a:solidFill>
                <a:latin typeface="Calibri (MS)"/>
                <a:ea typeface="Calibri (MS)"/>
                <a:cs typeface="Calibri (MS)"/>
                <a:sym typeface="Calibri (MS)"/>
              </a:rPr>
              <a:t>Equipment manuals &amp; maintenance records – for troubleshooting information</a:t>
            </a:r>
          </a:p>
          <a:p>
            <a:pPr algn="l" marL="516433" indent="-258217" lvl="1">
              <a:lnSpc>
                <a:spcPts val="2870"/>
              </a:lnSpc>
              <a:buFont typeface="Arial"/>
              <a:buChar char="•"/>
            </a:pPr>
            <a:r>
              <a:rPr lang="en-US" sz="2392">
                <a:solidFill>
                  <a:srgbClr val="000000"/>
                </a:solidFill>
                <a:latin typeface="Calibri (MS)"/>
                <a:ea typeface="Calibri (MS)"/>
                <a:cs typeface="Calibri (MS)"/>
                <a:sym typeface="Calibri (MS)"/>
              </a:rPr>
              <a:t>Expert knowledge from technicians – to validate possible root causes</a:t>
            </a:r>
          </a:p>
        </p:txBody>
      </p:sp>
      <p:grpSp>
        <p:nvGrpSpPr>
          <p:cNvPr name="Group 33" id="33"/>
          <p:cNvGrpSpPr/>
          <p:nvPr/>
        </p:nvGrpSpPr>
        <p:grpSpPr>
          <a:xfrm rot="0">
            <a:off x="16888511" y="9614916"/>
            <a:ext cx="685800" cy="593903"/>
            <a:chOff x="0" y="0"/>
            <a:chExt cx="914400" cy="791870"/>
          </a:xfrm>
        </p:grpSpPr>
        <p:sp>
          <p:nvSpPr>
            <p:cNvPr name="Freeform 34" id="34"/>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35" id="35"/>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7</a:t>
              </a:r>
            </a:p>
          </p:txBody>
        </p:sp>
      </p:grpSp>
      <p:grpSp>
        <p:nvGrpSpPr>
          <p:cNvPr name="Group 36" id="36"/>
          <p:cNvGrpSpPr/>
          <p:nvPr/>
        </p:nvGrpSpPr>
        <p:grpSpPr>
          <a:xfrm rot="0">
            <a:off x="2057400" y="576072"/>
            <a:ext cx="2441448" cy="1070148"/>
            <a:chOff x="0" y="0"/>
            <a:chExt cx="3255264" cy="1426865"/>
          </a:xfrm>
        </p:grpSpPr>
        <p:sp>
          <p:nvSpPr>
            <p:cNvPr name="Freeform 37" id="37"/>
            <p:cNvSpPr/>
            <p:nvPr/>
          </p:nvSpPr>
          <p:spPr>
            <a:xfrm flipH="false" flipV="false" rot="0">
              <a:off x="0" y="0"/>
              <a:ext cx="3255264" cy="1426865"/>
            </a:xfrm>
            <a:custGeom>
              <a:avLst/>
              <a:gdLst/>
              <a:ahLst/>
              <a:cxnLst/>
              <a:rect r="r" b="b" t="t" l="l"/>
              <a:pathLst>
                <a:path h="1426865" w="3255264">
                  <a:moveTo>
                    <a:pt x="0" y="0"/>
                  </a:moveTo>
                  <a:lnTo>
                    <a:pt x="3255264" y="0"/>
                  </a:lnTo>
                  <a:lnTo>
                    <a:pt x="3255264" y="1426865"/>
                  </a:lnTo>
                  <a:lnTo>
                    <a:pt x="0" y="1426865"/>
                  </a:lnTo>
                  <a:close/>
                </a:path>
              </a:pathLst>
            </a:custGeom>
            <a:blipFill>
              <a:blip r:embed="rId4">
                <a:alphaModFix amt="0"/>
              </a:blip>
              <a:stretch>
                <a:fillRect l="-4781" t="0" r="-4781" b="2591"/>
              </a:stretch>
            </a:blipFill>
          </p:spPr>
        </p:sp>
        <p:sp>
          <p:nvSpPr>
            <p:cNvPr name="TextBox 38" id="38"/>
            <p:cNvSpPr txBox="true"/>
            <p:nvPr/>
          </p:nvSpPr>
          <p:spPr>
            <a:xfrm>
              <a:off x="0" y="-38100"/>
              <a:ext cx="3255264" cy="1464965"/>
            </a:xfrm>
            <a:prstGeom prst="rect">
              <a:avLst/>
            </a:prstGeom>
          </p:spPr>
          <p:txBody>
            <a:bodyPr anchor="ctr" rtlCol="false" tIns="0" lIns="0" bIns="0" rIns="0"/>
            <a:lstStyle/>
            <a:p>
              <a:pPr algn="l">
                <a:lnSpc>
                  <a:spcPts val="1859"/>
                </a:lnSpc>
              </a:pPr>
              <a:r>
                <a:rPr lang="en-US" b="true" sz="1549" spc="516">
                  <a:solidFill>
                    <a:srgbClr val="5B6F6B"/>
                  </a:solidFill>
                  <a:latin typeface="Calibri (MS) Bold"/>
                  <a:ea typeface="Calibri (MS) Bold"/>
                  <a:cs typeface="Calibri (MS) Bold"/>
                  <a:sym typeface="Calibri (MS) Bold"/>
                </a:rPr>
                <a:t>TEAM</a:t>
              </a:r>
            </a:p>
            <a:p>
              <a:pPr algn="l">
                <a:lnSpc>
                  <a:spcPts val="2939"/>
                </a:lnSpc>
              </a:pPr>
              <a:r>
                <a:rPr lang="en-US" b="true" sz="2449" spc="816">
                  <a:solidFill>
                    <a:srgbClr val="026855"/>
                  </a:solidFill>
                  <a:latin typeface="Calibri (MS) Bold"/>
                  <a:ea typeface="Calibri (MS) Bold"/>
                  <a:cs typeface="Calibri (MS) Bold"/>
                  <a:sym typeface="Calibri (MS) Bold"/>
                </a:rPr>
                <a:t>INFINITE LOOPS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5400000">
            <a:off x="15903559" y="7017544"/>
            <a:ext cx="2161927" cy="1875473"/>
            <a:chOff x="0" y="0"/>
            <a:chExt cx="2882570" cy="2500630"/>
          </a:xfrm>
        </p:grpSpPr>
        <p:sp>
          <p:nvSpPr>
            <p:cNvPr name="Freeform 11" id="11"/>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2" id="12"/>
          <p:cNvGrpSpPr/>
          <p:nvPr/>
        </p:nvGrpSpPr>
        <p:grpSpPr>
          <a:xfrm rot="5400000">
            <a:off x="14613988" y="8011954"/>
            <a:ext cx="1449219" cy="1258252"/>
            <a:chOff x="0" y="0"/>
            <a:chExt cx="1932292" cy="1677670"/>
          </a:xfrm>
        </p:grpSpPr>
        <p:sp>
          <p:nvSpPr>
            <p:cNvPr name="Freeform 13" id="13"/>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4" id="14"/>
          <p:cNvGrpSpPr/>
          <p:nvPr/>
        </p:nvGrpSpPr>
        <p:grpSpPr>
          <a:xfrm rot="5400000">
            <a:off x="17357188" y="5748814"/>
            <a:ext cx="1449219" cy="1258252"/>
            <a:chOff x="0" y="0"/>
            <a:chExt cx="1932292" cy="1677670"/>
          </a:xfrm>
        </p:grpSpPr>
        <p:sp>
          <p:nvSpPr>
            <p:cNvPr name="Freeform 15" id="15"/>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6" id="16"/>
          <p:cNvGrpSpPr/>
          <p:nvPr/>
        </p:nvGrpSpPr>
        <p:grpSpPr>
          <a:xfrm rot="0">
            <a:off x="4501529" y="411480"/>
            <a:ext cx="11247120" cy="1234440"/>
            <a:chOff x="0" y="0"/>
            <a:chExt cx="14996160" cy="1645920"/>
          </a:xfrm>
        </p:grpSpPr>
        <p:sp>
          <p:nvSpPr>
            <p:cNvPr name="Freeform 17" id="17"/>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8" id="18"/>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INITIAL DIRECTION &amp; EXPECTED OUTCOME</a:t>
              </a:r>
            </a:p>
          </p:txBody>
        </p:sp>
      </p:grpSp>
      <p:grpSp>
        <p:nvGrpSpPr>
          <p:cNvPr name="Group 19" id="19"/>
          <p:cNvGrpSpPr/>
          <p:nvPr/>
        </p:nvGrpSpPr>
        <p:grpSpPr>
          <a:xfrm rot="0">
            <a:off x="178132" y="275501"/>
            <a:ext cx="3923347" cy="1248727"/>
            <a:chOff x="0" y="0"/>
            <a:chExt cx="5231130" cy="1664970"/>
          </a:xfrm>
        </p:grpSpPr>
        <p:sp>
          <p:nvSpPr>
            <p:cNvPr name="Freeform 20" id="20"/>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1" id="21"/>
          <p:cNvGrpSpPr/>
          <p:nvPr/>
        </p:nvGrpSpPr>
        <p:grpSpPr>
          <a:xfrm rot="0">
            <a:off x="397588" y="481241"/>
            <a:ext cx="960692" cy="837248"/>
            <a:chOff x="0" y="0"/>
            <a:chExt cx="1280922" cy="1116330"/>
          </a:xfrm>
        </p:grpSpPr>
        <p:sp>
          <p:nvSpPr>
            <p:cNvPr name="Freeform 22" id="22"/>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3" id="23"/>
          <p:cNvGrpSpPr/>
          <p:nvPr/>
        </p:nvGrpSpPr>
        <p:grpSpPr>
          <a:xfrm rot="0">
            <a:off x="603614" y="625545"/>
            <a:ext cx="548640" cy="548640"/>
            <a:chOff x="0" y="0"/>
            <a:chExt cx="731520" cy="731520"/>
          </a:xfrm>
        </p:grpSpPr>
        <p:sp>
          <p:nvSpPr>
            <p:cNvPr name="Freeform 24" id="24"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5" id="25"/>
          <p:cNvGrpSpPr/>
          <p:nvPr/>
        </p:nvGrpSpPr>
        <p:grpSpPr>
          <a:xfrm rot="0">
            <a:off x="397588" y="1721644"/>
            <a:ext cx="685800" cy="593903"/>
            <a:chOff x="0" y="0"/>
            <a:chExt cx="914400" cy="791870"/>
          </a:xfrm>
        </p:grpSpPr>
        <p:sp>
          <p:nvSpPr>
            <p:cNvPr name="Freeform 26" id="26"/>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27" id="27"/>
          <p:cNvGrpSpPr/>
          <p:nvPr/>
        </p:nvGrpSpPr>
        <p:grpSpPr>
          <a:xfrm rot="0">
            <a:off x="534748" y="1812169"/>
            <a:ext cx="411480" cy="411480"/>
            <a:chOff x="0" y="0"/>
            <a:chExt cx="548640" cy="548640"/>
          </a:xfrm>
        </p:grpSpPr>
        <p:sp>
          <p:nvSpPr>
            <p:cNvPr name="Freeform 28" id="28"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29" id="29"/>
          <p:cNvGrpSpPr/>
          <p:nvPr/>
        </p:nvGrpSpPr>
        <p:grpSpPr>
          <a:xfrm rot="0">
            <a:off x="1152254" y="1721644"/>
            <a:ext cx="14401800" cy="754380"/>
            <a:chOff x="0" y="0"/>
            <a:chExt cx="19202400" cy="1005840"/>
          </a:xfrm>
        </p:grpSpPr>
        <p:sp>
          <p:nvSpPr>
            <p:cNvPr name="Freeform 30" id="30"/>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1" id="31"/>
            <p:cNvSpPr txBox="true"/>
            <p:nvPr/>
          </p:nvSpPr>
          <p:spPr>
            <a:xfrm>
              <a:off x="0" y="-57150"/>
              <a:ext cx="19202400" cy="1062990"/>
            </a:xfrm>
            <a:prstGeom prst="rect">
              <a:avLst/>
            </a:prstGeom>
          </p:spPr>
          <p:txBody>
            <a:bodyPr anchor="ctr" rtlCol="false" tIns="0" lIns="0" bIns="0" rIns="0"/>
            <a:lstStyle/>
            <a:p>
              <a:pPr algn="l">
                <a:lnSpc>
                  <a:spcPts val="3599"/>
                </a:lnSpc>
              </a:pPr>
              <a:r>
                <a:rPr lang="en-US" b="true" sz="2999" u="sng">
                  <a:solidFill>
                    <a:srgbClr val="000000"/>
                  </a:solidFill>
                  <a:latin typeface="Calibri (MS) Bold"/>
                  <a:ea typeface="Calibri (MS) Bold"/>
                  <a:cs typeface="Calibri (MS) Bold"/>
                  <a:sym typeface="Calibri (MS) Bold"/>
                </a:rPr>
                <a:t>What Is Your Expected Outcome?</a:t>
              </a:r>
            </a:p>
          </p:txBody>
        </p:sp>
      </p:grpSp>
      <p:sp>
        <p:nvSpPr>
          <p:cNvPr name="TextBox 32" id="32"/>
          <p:cNvSpPr txBox="true"/>
          <p:nvPr/>
        </p:nvSpPr>
        <p:spPr>
          <a:xfrm rot="0">
            <a:off x="1358279" y="2485549"/>
            <a:ext cx="16094393" cy="6390312"/>
          </a:xfrm>
          <a:prstGeom prst="rect">
            <a:avLst/>
          </a:prstGeom>
        </p:spPr>
        <p:txBody>
          <a:bodyPr anchor="t" rtlCol="false" tIns="0" lIns="0" bIns="0" rIns="0">
            <a:spAutoFit/>
          </a:bodyPr>
          <a:lstStyle/>
          <a:p>
            <a:pPr algn="l">
              <a:lnSpc>
                <a:spcPts val="3334"/>
              </a:lnSpc>
            </a:pPr>
            <a:r>
              <a:rPr lang="en-US" sz="2779" b="true">
                <a:solidFill>
                  <a:srgbClr val="0E2A2F"/>
                </a:solidFill>
                <a:latin typeface="Calibri (MS) Bold"/>
                <a:ea typeface="Calibri (MS) Bold"/>
                <a:cs typeface="Calibri (MS) Bold"/>
                <a:sym typeface="Calibri (MS) Bold"/>
              </a:rPr>
              <a:t>What your team intends to do:</a:t>
            </a:r>
          </a:p>
          <a:p>
            <a:pPr algn="l" marL="600010" indent="-300005" lvl="1">
              <a:lnSpc>
                <a:spcPts val="3334"/>
              </a:lnSpc>
              <a:buFont typeface="Arial"/>
              <a:buChar char="•"/>
            </a:pPr>
            <a:r>
              <a:rPr lang="en-US" sz="2779">
                <a:solidFill>
                  <a:srgbClr val="0E2A2F"/>
                </a:solidFill>
                <a:latin typeface="Calibri (MS)"/>
                <a:ea typeface="Calibri (MS)"/>
                <a:cs typeface="Calibri (MS)"/>
                <a:sym typeface="Calibri (MS)"/>
              </a:rPr>
              <a:t>Our expected outcome is to develop an AI-powered system that identifies the most likely root cause of machine failures by analysing machine alarms, sensor data, equipment manuals, and historical maintenance records. The system should provide clear fault explanations and recommend suitable troubleshooting steps to help technicians resolve problems more efficiently.</a:t>
            </a:r>
          </a:p>
          <a:p>
            <a:pPr algn="l">
              <a:lnSpc>
                <a:spcPts val="3334"/>
              </a:lnSpc>
            </a:pPr>
            <a:r>
              <a:rPr lang="en-US" sz="2779" b="true">
                <a:solidFill>
                  <a:srgbClr val="0E2A2F"/>
                </a:solidFill>
                <a:latin typeface="Calibri (MS) Bold"/>
                <a:ea typeface="Calibri (MS) Bold"/>
                <a:cs typeface="Calibri (MS) Bold"/>
                <a:sym typeface="Calibri (MS) Bold"/>
              </a:rPr>
              <a:t>What you want to improve:</a:t>
            </a:r>
          </a:p>
          <a:p>
            <a:pPr algn="l" marL="600010" indent="-300005" lvl="1">
              <a:lnSpc>
                <a:spcPts val="3334"/>
              </a:lnSpc>
              <a:buFont typeface="Arial"/>
              <a:buChar char="•"/>
            </a:pPr>
            <a:r>
              <a:rPr lang="en-US" sz="2779">
                <a:solidFill>
                  <a:srgbClr val="000000"/>
                </a:solidFill>
                <a:latin typeface="Calibri (MS)"/>
                <a:ea typeface="Calibri (MS)"/>
                <a:cs typeface="Calibri (MS)"/>
                <a:sym typeface="Calibri (MS)"/>
              </a:rPr>
              <a:t>We aim to improve the speed and accuracy of fault diagnosis, reduce the time technicians spend searching through different information sources, minimise machine downtime, and lower maintenance costs. We also want to improve worker safety by supporting remote fault investigation and reducing unnecessary physical inspections in harsh or hazardous industrial environments.</a:t>
            </a:r>
          </a:p>
          <a:p>
            <a:pPr algn="l">
              <a:lnSpc>
                <a:spcPts val="3334"/>
              </a:lnSpc>
            </a:pPr>
            <a:r>
              <a:rPr lang="en-US" sz="2779" b="true">
                <a:solidFill>
                  <a:srgbClr val="0E2A2F"/>
                </a:solidFill>
                <a:latin typeface="Calibri (MS) Bold"/>
                <a:ea typeface="Calibri (MS) Bold"/>
                <a:cs typeface="Calibri (MS) Bold"/>
                <a:sym typeface="Calibri (MS) Bold"/>
              </a:rPr>
              <a:t>What successful improvement should you achieve:</a:t>
            </a:r>
          </a:p>
          <a:p>
            <a:pPr algn="l" marL="600010" indent="-300005" lvl="1">
              <a:lnSpc>
                <a:spcPts val="3334"/>
              </a:lnSpc>
              <a:buFont typeface="Arial"/>
              <a:buChar char="•"/>
            </a:pPr>
            <a:r>
              <a:rPr lang="en-US" sz="2779">
                <a:solidFill>
                  <a:srgbClr val="000000"/>
                </a:solidFill>
                <a:latin typeface="Calibri (MS)"/>
                <a:ea typeface="Calibri (MS)"/>
                <a:cs typeface="Calibri (MS)"/>
                <a:sym typeface="Calibri (MS)"/>
              </a:rPr>
              <a:t>We aim to achieve faster root-cause identification, more reliable troubleshooting recommendations, fewer production interruptions, reduced maintenance expenses, and improved worker safety. The solution will be considered successful if it helps technicians make better-informed decisions, resolve machine failures more efficiently, and improve the overall productivity and reliability of industrial operations.</a:t>
            </a:r>
          </a:p>
        </p:txBody>
      </p:sp>
      <p:grpSp>
        <p:nvGrpSpPr>
          <p:cNvPr name="Group 33" id="33"/>
          <p:cNvGrpSpPr/>
          <p:nvPr/>
        </p:nvGrpSpPr>
        <p:grpSpPr>
          <a:xfrm rot="0">
            <a:off x="16888511" y="9614916"/>
            <a:ext cx="685800" cy="593903"/>
            <a:chOff x="0" y="0"/>
            <a:chExt cx="914400" cy="791870"/>
          </a:xfrm>
        </p:grpSpPr>
        <p:sp>
          <p:nvSpPr>
            <p:cNvPr name="Freeform 34" id="34"/>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35" id="35"/>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8</a:t>
              </a:r>
            </a:p>
          </p:txBody>
        </p:sp>
      </p:grpSp>
      <p:grpSp>
        <p:nvGrpSpPr>
          <p:cNvPr name="Group 36" id="36"/>
          <p:cNvGrpSpPr/>
          <p:nvPr/>
        </p:nvGrpSpPr>
        <p:grpSpPr>
          <a:xfrm rot="0">
            <a:off x="1556876" y="378657"/>
            <a:ext cx="2441448" cy="1070148"/>
            <a:chOff x="0" y="0"/>
            <a:chExt cx="3255264" cy="1426865"/>
          </a:xfrm>
        </p:grpSpPr>
        <p:sp>
          <p:nvSpPr>
            <p:cNvPr name="Freeform 37" id="37"/>
            <p:cNvSpPr/>
            <p:nvPr/>
          </p:nvSpPr>
          <p:spPr>
            <a:xfrm flipH="false" flipV="false" rot="0">
              <a:off x="0" y="0"/>
              <a:ext cx="3255264" cy="1426865"/>
            </a:xfrm>
            <a:custGeom>
              <a:avLst/>
              <a:gdLst/>
              <a:ahLst/>
              <a:cxnLst/>
              <a:rect r="r" b="b" t="t" l="l"/>
              <a:pathLst>
                <a:path h="1426865" w="3255264">
                  <a:moveTo>
                    <a:pt x="0" y="0"/>
                  </a:moveTo>
                  <a:lnTo>
                    <a:pt x="3255264" y="0"/>
                  </a:lnTo>
                  <a:lnTo>
                    <a:pt x="3255264" y="1426865"/>
                  </a:lnTo>
                  <a:lnTo>
                    <a:pt x="0" y="1426865"/>
                  </a:lnTo>
                  <a:close/>
                </a:path>
              </a:pathLst>
            </a:custGeom>
            <a:blipFill>
              <a:blip r:embed="rId4">
                <a:alphaModFix amt="0"/>
              </a:blip>
              <a:stretch>
                <a:fillRect l="-4781" t="0" r="-4781" b="2591"/>
              </a:stretch>
            </a:blipFill>
          </p:spPr>
        </p:sp>
        <p:sp>
          <p:nvSpPr>
            <p:cNvPr name="TextBox 38" id="38"/>
            <p:cNvSpPr txBox="true"/>
            <p:nvPr/>
          </p:nvSpPr>
          <p:spPr>
            <a:xfrm>
              <a:off x="0" y="-38100"/>
              <a:ext cx="3255264" cy="1464965"/>
            </a:xfrm>
            <a:prstGeom prst="rect">
              <a:avLst/>
            </a:prstGeom>
          </p:spPr>
          <p:txBody>
            <a:bodyPr anchor="ctr" rtlCol="false" tIns="0" lIns="0" bIns="0" rIns="0"/>
            <a:lstStyle/>
            <a:p>
              <a:pPr algn="l">
                <a:lnSpc>
                  <a:spcPts val="1859"/>
                </a:lnSpc>
              </a:pPr>
              <a:r>
                <a:rPr lang="en-US" b="true" sz="1549" spc="516">
                  <a:solidFill>
                    <a:srgbClr val="5B6F6B"/>
                  </a:solidFill>
                  <a:latin typeface="Calibri (MS) Bold"/>
                  <a:ea typeface="Calibri (MS) Bold"/>
                  <a:cs typeface="Calibri (MS) Bold"/>
                  <a:sym typeface="Calibri (MS) Bold"/>
                </a:rPr>
                <a:t>TEAM</a:t>
              </a:r>
            </a:p>
            <a:p>
              <a:pPr algn="l">
                <a:lnSpc>
                  <a:spcPts val="2939"/>
                </a:lnSpc>
              </a:pPr>
              <a:r>
                <a:rPr lang="en-US" b="true" sz="2449" spc="816">
                  <a:solidFill>
                    <a:srgbClr val="026855"/>
                  </a:solidFill>
                  <a:latin typeface="Calibri (MS) Bold"/>
                  <a:ea typeface="Calibri (MS) Bold"/>
                  <a:cs typeface="Calibri (MS) Bold"/>
                  <a:sym typeface="Calibri (MS) Bold"/>
                </a:rPr>
                <a:t>INFINITE LOOPS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DAHXhuO1Af8</dc:identifier>
  <dcterms:modified xsi:type="dcterms:W3CDTF">2011-08-01T06:04:30Z</dcterms:modified>
  <cp:revision>1</cp:revision>
  <dc:title>Task2_GEN26-A0H-I070.pptx</dc:title>
</cp:coreProperties>
</file>